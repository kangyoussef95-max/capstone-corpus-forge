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ustom.xml" ContentType="application/vnd.openxmlformats-officedocument.custom-properties+xml"/>
  <Override PartName="/docProps/core.xml" ContentType="application/vnd.openxmlformats-package.core-properties+xml"/>
  <Override PartName="/docProps/app.xml" ContentType="application/vnd.openxmlformats-officedocument.extended-properties+xml"/>
  <Override PartName="/ppt/theme/theme1.xml" ContentType="application/vnd.openxmlformats-officedocument.theme+xml"/>
  <Override PartName="/ppt/theme/theme2.xml" ContentType="application/vnd.openxmlformats-officedocument.theme+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Masters/slideMaster1.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slideLayouts/slideLayout1.xml" ContentType="application/vnd.openxmlformats-officedocument.presentationml.slideLayout+xml"/>
  <Override PartName="/ppt/presProps.xml" ContentType="application/vnd.openxmlformats-officedocument.presentationml.presPro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fr-FR" sz="1800" b="0" u="none" strike="noStrike">
                <a:solidFill>
                  <a:schemeClr val="dk1"/>
                </a:solidFill>
                <a:effectLst/>
                <a:uFillTx/>
                <a:latin typeface="Calibri"/>
              </a:rPr>
              <a:t>Cliquez pour déplacer la diapo</a:t>
            </a:r>
            <a:endParaRPr lang="fr-FR" sz="1800" b="0" u="none" strike="noStrike">
              <a:solidFill>
                <a:schemeClr val="dk1"/>
              </a:solidFill>
              <a:effectLst/>
              <a:uFillTx/>
              <a:latin typeface="Calibri"/>
            </a:endParaRP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fr-FR" sz="2000" b="0" u="none" strike="noStrike">
                <a:solidFill>
                  <a:srgbClr val="000000"/>
                </a:solidFill>
                <a:effectLst/>
                <a:uFillTx/>
                <a:latin typeface="Arial"/>
              </a:rPr>
              <a:t>Cliquez pour modifier le format des notes</a:t>
            </a:r>
            <a:endParaRPr lang="fr-FR" sz="2000" b="0" u="none" strike="noStrike">
              <a:solidFill>
                <a:srgbClr val="000000"/>
              </a:solidFill>
              <a:effectLst/>
              <a:uFillTx/>
              <a:latin typeface="Arial"/>
            </a:endParaRPr>
          </a:p>
        </p:txBody>
      </p:sp>
      <p:sp>
        <p:nvSpPr>
          <p:cNvPr id="6"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7"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 </a:t>
            </a:r>
            <a:endParaRPr lang="fr-FR" sz="1400" b="0" u="none" strike="noStrike">
              <a:solidFill>
                <a:srgbClr val="000000"/>
              </a:solidFill>
              <a:effectLst/>
              <a:uFillTx/>
              <a:latin typeface="Times New Roman"/>
            </a:endParaRP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F00D772E-A82C-4FD9-9184-5D8E723D3F52}" type="slidenum">
              <a:rPr lang="fr-FR" sz="1400" b="0" u="none" strike="noStrike">
                <a:solidFill>
                  <a:srgbClr val="000000"/>
                </a:solidFill>
                <a:effectLst/>
                <a:uFillTx/>
                <a:latin typeface="Times New Roman"/>
              </a:rPr>
              <a:t>1</a:t>
            </a:fld>
            <a:endParaRPr lang="fr-FR"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5800" y="1143000"/>
            <a:ext cx="5486040" cy="3085920"/>
          </a:xfrm>
          <a:prstGeom prst="rect">
            <a:avLst/>
          </a:prstGeom>
          <a:ln w="0">
            <a:noFill/>
          </a:ln>
        </p:spPr>
      </p:sp>
      <p:sp>
        <p:nvSpPr>
          <p:cNvPr id="30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08"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A99F41-1221-4BA2-AF1A-3A85E30E7406}"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5800" y="1143000"/>
            <a:ext cx="5486040" cy="3085920"/>
          </a:xfrm>
          <a:prstGeom prst="rect">
            <a:avLst/>
          </a:prstGeom>
          <a:ln w="0">
            <a:noFill/>
          </a:ln>
        </p:spPr>
      </p:sp>
      <p:sp>
        <p:nvSpPr>
          <p:cNvPr id="3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11"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977ECBD-65DF-413B-A815-411236B62B84}"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5800" y="1143000"/>
            <a:ext cx="5486040" cy="3085920"/>
          </a:xfrm>
          <a:prstGeom prst="rect">
            <a:avLst/>
          </a:prstGeom>
          <a:ln w="0">
            <a:noFill/>
          </a:ln>
        </p:spPr>
      </p:sp>
      <p:sp>
        <p:nvSpPr>
          <p:cNvPr id="3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14"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2D5684-5873-48CE-83D0-61AD1EB772D6}"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685800" y="1143000"/>
            <a:ext cx="5486040" cy="3085920"/>
          </a:xfrm>
          <a:prstGeom prst="rect">
            <a:avLst/>
          </a:prstGeom>
          <a:ln w="0">
            <a:noFill/>
          </a:ln>
        </p:spPr>
      </p:sp>
      <p:sp>
        <p:nvSpPr>
          <p:cNvPr id="3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17"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86CF501-EF48-4465-BFB6-FD9A26ACBB87}"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8" name="PlaceHolder 1"/>
          <p:cNvSpPr>
            <a:spLocks noGrp="1"/>
          </p:cNvSpPr>
          <p:nvPr>
            <p:ph type="sldImg"/>
          </p:nvPr>
        </p:nvSpPr>
        <p:spPr>
          <a:xfrm>
            <a:off x="685800" y="1143000"/>
            <a:ext cx="5486040" cy="3085920"/>
          </a:xfrm>
          <a:prstGeom prst="rect">
            <a:avLst/>
          </a:prstGeom>
          <a:ln w="0">
            <a:noFill/>
          </a:ln>
        </p:spPr>
      </p:sp>
      <p:sp>
        <p:nvSpPr>
          <p:cNvPr id="3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20"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F769BC-54D4-4125-8D6C-162031940AB6}"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PlaceHolder 1"/>
          <p:cNvSpPr>
            <a:spLocks noGrp="1"/>
          </p:cNvSpPr>
          <p:nvPr>
            <p:ph type="sldImg"/>
          </p:nvPr>
        </p:nvSpPr>
        <p:spPr>
          <a:xfrm>
            <a:off x="685800" y="1143000"/>
            <a:ext cx="5486040" cy="3085920"/>
          </a:xfrm>
          <a:prstGeom prst="rect">
            <a:avLst/>
          </a:prstGeom>
          <a:ln w="0">
            <a:noFill/>
          </a:ln>
        </p:spPr>
      </p:sp>
      <p:sp>
        <p:nvSpPr>
          <p:cNvPr id="3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23"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D47D863-35A0-41EE-8E18-F52CB04AB6A9}"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4" name="PlaceHolder 1"/>
          <p:cNvSpPr>
            <a:spLocks noGrp="1"/>
          </p:cNvSpPr>
          <p:nvPr>
            <p:ph type="sldImg"/>
          </p:nvPr>
        </p:nvSpPr>
        <p:spPr>
          <a:xfrm>
            <a:off x="685800" y="1143000"/>
            <a:ext cx="5486040" cy="3085920"/>
          </a:xfrm>
          <a:prstGeom prst="rect">
            <a:avLst/>
          </a:prstGeom>
          <a:ln w="0">
            <a:noFill/>
          </a:ln>
        </p:spPr>
      </p:sp>
      <p:sp>
        <p:nvSpPr>
          <p:cNvPr id="3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26"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B5B8C21E-629B-4DBF-B2AC-06C1E87778C4}"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sldImg"/>
          </p:nvPr>
        </p:nvSpPr>
        <p:spPr>
          <a:xfrm>
            <a:off x="685800" y="1143000"/>
            <a:ext cx="5486040" cy="3085920"/>
          </a:xfrm>
          <a:prstGeom prst="rect">
            <a:avLst/>
          </a:prstGeom>
          <a:ln w="0">
            <a:noFill/>
          </a:ln>
        </p:spPr>
      </p:sp>
      <p:sp>
        <p:nvSpPr>
          <p:cNvPr id="3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29"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9685442-4D88-4610-BDBE-203FC2CD593E}"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sldImg"/>
          </p:nvPr>
        </p:nvSpPr>
        <p:spPr>
          <a:xfrm>
            <a:off x="685800" y="1143000"/>
            <a:ext cx="5486040" cy="3085920"/>
          </a:xfrm>
          <a:prstGeom prst="rect">
            <a:avLst/>
          </a:prstGeom>
          <a:ln w="0">
            <a:noFill/>
          </a:ln>
        </p:spPr>
      </p:sp>
      <p:sp>
        <p:nvSpPr>
          <p:cNvPr id="3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32"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3E943FB8-A9E5-49FF-B678-120FE783F936}"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685800" y="1143000"/>
            <a:ext cx="5486040" cy="3085920"/>
          </a:xfrm>
          <a:prstGeom prst="rect">
            <a:avLst/>
          </a:prstGeom>
          <a:ln w="0">
            <a:noFill/>
          </a:ln>
        </p:spPr>
      </p:sp>
      <p:sp>
        <p:nvSpPr>
          <p:cNvPr id="3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35" name="PlaceHolder 3"/>
          <p:cNvSpPr>
            <a:spLocks noGrp="1"/>
          </p:cNvSpPr>
          <p:nvPr>
            <p:ph type="sldNum" idx="13"/>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10B57514-F8E7-45F9-846E-DDEEBCF742B4}"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sldImg"/>
          </p:nvPr>
        </p:nvSpPr>
        <p:spPr>
          <a:xfrm>
            <a:off x="685800" y="1143000"/>
            <a:ext cx="5486040" cy="3085920"/>
          </a:xfrm>
          <a:prstGeom prst="rect">
            <a:avLst/>
          </a:prstGeom>
          <a:ln w="0">
            <a:noFill/>
          </a:ln>
        </p:spPr>
      </p:sp>
      <p:sp>
        <p:nvSpPr>
          <p:cNvPr id="3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38" name="PlaceHolder 3"/>
          <p:cNvSpPr>
            <a:spLocks noGrp="1"/>
          </p:cNvSpPr>
          <p:nvPr>
            <p:ph type="sldNum" idx="1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0E72EF8-95AE-4A0A-A279-3327B5FC75BB}"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685800" y="1143000"/>
            <a:ext cx="5486040" cy="3085920"/>
          </a:xfrm>
          <a:prstGeom prst="rect">
            <a:avLst/>
          </a:prstGeom>
          <a:ln w="0">
            <a:noFill/>
          </a:ln>
        </p:spPr>
      </p:sp>
      <p:sp>
        <p:nvSpPr>
          <p:cNvPr id="3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41" name="PlaceHolder 3"/>
          <p:cNvSpPr>
            <a:spLocks noGrp="1"/>
          </p:cNvSpPr>
          <p:nvPr>
            <p:ph type="sldNum" idx="1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522C0AD6-8F19-42B3-A87A-976CAA61AE53}"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sldImg"/>
          </p:nvPr>
        </p:nvSpPr>
        <p:spPr>
          <a:xfrm>
            <a:off x="685800" y="1143000"/>
            <a:ext cx="5486040" cy="3085920"/>
          </a:xfrm>
          <a:prstGeom prst="rect">
            <a:avLst/>
          </a:prstGeom>
          <a:ln w="0">
            <a:noFill/>
          </a:ln>
        </p:spPr>
      </p:sp>
      <p:sp>
        <p:nvSpPr>
          <p:cNvPr id="3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44" name="PlaceHolder 3"/>
          <p:cNvSpPr>
            <a:spLocks noGrp="1"/>
          </p:cNvSpPr>
          <p:nvPr>
            <p:ph type="sldNum" idx="1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83230249-5E99-4882-A3FA-392CF81D483C}"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5" name="PlaceHolder 1"/>
          <p:cNvSpPr>
            <a:spLocks noGrp="1"/>
          </p:cNvSpPr>
          <p:nvPr>
            <p:ph type="sldImg"/>
          </p:nvPr>
        </p:nvSpPr>
        <p:spPr>
          <a:xfrm>
            <a:off x="685800" y="1143000"/>
            <a:ext cx="5486040" cy="3085920"/>
          </a:xfrm>
          <a:prstGeom prst="rect">
            <a:avLst/>
          </a:prstGeom>
          <a:ln w="0">
            <a:noFill/>
          </a:ln>
        </p:spPr>
      </p:sp>
      <p:sp>
        <p:nvSpPr>
          <p:cNvPr id="3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47" name="PlaceHolder 3"/>
          <p:cNvSpPr>
            <a:spLocks noGrp="1"/>
          </p:cNvSpPr>
          <p:nvPr>
            <p:ph type="sldNum" idx="1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F679CB0F-DD22-48FC-B464-DB6B1C958F2A}"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8" name="PlaceHolder 1"/>
          <p:cNvSpPr>
            <a:spLocks noGrp="1"/>
          </p:cNvSpPr>
          <p:nvPr>
            <p:ph type="sldImg"/>
          </p:nvPr>
        </p:nvSpPr>
        <p:spPr>
          <a:xfrm>
            <a:off x="685800" y="1143000"/>
            <a:ext cx="5486040" cy="3085920"/>
          </a:xfrm>
          <a:prstGeom prst="rect">
            <a:avLst/>
          </a:prstGeom>
          <a:ln w="0">
            <a:noFill/>
          </a:ln>
        </p:spPr>
      </p:sp>
      <p:sp>
        <p:nvSpPr>
          <p:cNvPr id="3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fr-FR" sz="1800" b="0" u="none" strike="noStrike">
              <a:solidFill>
                <a:srgbClr val="000000"/>
              </a:solidFill>
              <a:effectLst/>
              <a:uFillTx/>
              <a:latin typeface="Arial"/>
            </a:endParaRPr>
          </a:p>
        </p:txBody>
      </p:sp>
      <p:sp>
        <p:nvSpPr>
          <p:cNvPr id="350" name="PlaceHolder 3"/>
          <p:cNvSpPr>
            <a:spLocks noGrp="1"/>
          </p:cNvSpPr>
          <p:nvPr>
            <p:ph type="sldNum" idx="1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lang="en-US" sz="1200" b="0" u="none" strike="noStrike">
                <a:solidFill>
                  <a:schemeClr val="dk1"/>
                </a:solidFill>
                <a:effectLst/>
                <a:uFillTx/>
                <a:latin typeface="+mn-lt"/>
                <a:ea typeface="+mn-ea"/>
              </a:defRPr>
            </a:lvl1pPr>
          </a:lstStyle>
          <a:p>
            <a:pPr indent="0" algn="r" defTabSz="914400">
              <a:lnSpc>
                <a:spcPct val="100000"/>
              </a:lnSpc>
              <a:buNone/>
            </a:pPr>
            <a:fld id="{91E87FA7-8A49-44FD-A4E9-AEB39B9AD157}" type="slidenum">
              <a:rPr lang="en-US" sz="1200" b="0" u="none" strike="noStrike">
                <a:solidFill>
                  <a:schemeClr val="dk1"/>
                </a:solidFill>
                <a:effectLst/>
                <a:uFillTx/>
                <a:latin typeface="+mn-lt"/>
                <a:ea typeface="+mn-ea"/>
              </a:rPr>
              <a:t>&lt;numéro&gt;</a:t>
            </a:fld>
            <a:endParaRPr lang="fr-FR"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buNone/>
            </a:pPr>
            <a:r>
              <a:rPr lang="fr-FR" sz="1800" b="0" u="none" strike="noStrike">
                <a:solidFill>
                  <a:schemeClr val="dk1"/>
                </a:solidFill>
                <a:effectLst/>
                <a:uFillTx/>
                <a:latin typeface="Calibri"/>
              </a:rPr>
              <a:t>Cliquez pour éditer le format du texte-titre</a:t>
            </a:r>
            <a:endParaRPr lang="fr-FR" sz="1800" b="0" u="none" strike="noStrike">
              <a:solidFill>
                <a:schemeClr val="dk1"/>
              </a:solidFill>
              <a:effectLst/>
              <a:uFillTx/>
              <a:latin typeface="Calibri"/>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fr-FR" sz="3200" b="0" u="none" strike="noStrike">
                <a:solidFill>
                  <a:schemeClr val="dk1"/>
                </a:solidFill>
                <a:effectLst/>
                <a:uFillTx/>
                <a:latin typeface="Calibri"/>
              </a:rPr>
              <a:t>Cliquez pour éditer le format du plan de texte</a:t>
            </a:r>
            <a:endParaRPr lang="fr-FR"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fr-FR" sz="2400" b="0" u="none" strike="noStrike">
                <a:solidFill>
                  <a:schemeClr val="dk1"/>
                </a:solidFill>
                <a:effectLst/>
                <a:uFillTx/>
                <a:latin typeface="Calibri"/>
              </a:rPr>
              <a:t>Second niveau de plan</a:t>
            </a:r>
            <a:endParaRPr lang="fr-FR"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fr-FR" sz="2000" b="0" u="none" strike="noStrike">
                <a:solidFill>
                  <a:schemeClr val="dk1"/>
                </a:solidFill>
                <a:effectLst/>
                <a:uFillTx/>
                <a:latin typeface="Calibri"/>
              </a:rPr>
              <a:t>Troisième niveau de plan</a:t>
            </a:r>
            <a:endParaRPr lang="fr-FR"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fr-FR" sz="2000" b="0" u="none" strike="noStrike">
                <a:solidFill>
                  <a:schemeClr val="dk1"/>
                </a:solidFill>
                <a:effectLst/>
                <a:uFillTx/>
                <a:latin typeface="Calibri"/>
              </a:rPr>
              <a:t>Quatrième niveau de plan</a:t>
            </a:r>
            <a:endParaRPr lang="fr-FR"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fr-FR" sz="2000" b="0" u="none" strike="noStrike">
                <a:solidFill>
                  <a:schemeClr val="dk1"/>
                </a:solidFill>
                <a:effectLst/>
                <a:uFillTx/>
                <a:latin typeface="Calibri"/>
              </a:rPr>
              <a:t>Cinquième niveau de plan</a:t>
            </a:r>
            <a:endParaRPr lang="fr-FR"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fr-FR" sz="2000" b="0" u="none" strike="noStrike">
                <a:solidFill>
                  <a:schemeClr val="dk1"/>
                </a:solidFill>
                <a:effectLst/>
                <a:uFillTx/>
                <a:latin typeface="Calibri"/>
              </a:rPr>
              <a:t>Sixième niveau de plan</a:t>
            </a:r>
            <a:endParaRPr lang="fr-FR"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fr-FR" sz="2000" b="0" u="none" strike="noStrike">
                <a:solidFill>
                  <a:schemeClr val="dk1"/>
                </a:solidFill>
                <a:effectLst/>
                <a:uFillTx/>
                <a:latin typeface="Calibri"/>
              </a:rPr>
              <a:t>Septième niveau de plan</a:t>
            </a:r>
            <a:endParaRPr lang="fr-FR"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slideLayout" Target="../slideLayouts/slideLayout1.xml"/><Relationship Id="rId8"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png"/><Relationship Id="rId3" Type="http://schemas.openxmlformats.org/officeDocument/2006/relationships/slideLayout" Target="../slideLayouts/slideLayout1.xml"/><Relationship Id="rId4"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11.png"/><Relationship Id="rId6" Type="http://schemas.openxmlformats.org/officeDocument/2006/relationships/image" Target="../media/image11.png"/><Relationship Id="rId7" Type="http://schemas.openxmlformats.org/officeDocument/2006/relationships/image" Target="../media/image11.png"/><Relationship Id="rId8" Type="http://schemas.openxmlformats.org/officeDocument/2006/relationships/slideLayout" Target="../slideLayouts/slideLayout1.xml"/><Relationship Id="rId9"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image" Target="../media/image13.png"/><Relationship Id="rId3" Type="http://schemas.openxmlformats.org/officeDocument/2006/relationships/image" Target="../media/image5.png"/><Relationship Id="rId4" Type="http://schemas.openxmlformats.org/officeDocument/2006/relationships/image" Target="../media/image11.png"/><Relationship Id="rId5" Type="http://schemas.openxmlformats.org/officeDocument/2006/relationships/slideLayout" Target="../slideLayouts/slideLayout1.xml"/><Relationship Id="rId6"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10" name="Shape 0"/>
          <p:cNvSpPr/>
          <p:nvPr/>
        </p:nvSpPr>
        <p:spPr>
          <a:xfrm>
            <a:off x="0" y="0"/>
            <a:ext cx="319680" cy="685764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11" name="Text 1"/>
          <p:cNvSpPr/>
          <p:nvPr/>
        </p:nvSpPr>
        <p:spPr>
          <a:xfrm>
            <a:off x="914400" y="1463040"/>
            <a:ext cx="10058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1" u="none" spc="601" strike="noStrike">
                <a:solidFill>
                  <a:srgbClr val="5eead4"/>
                </a:solidFill>
                <a:effectLst/>
                <a:uFillTx/>
                <a:latin typeface="Calibri"/>
                <a:ea typeface="Calibri"/>
              </a:rPr>
              <a:t>CAPSTONE  ·  GENERATIVE AI FOR SOFTWARE ENGINEERING</a:t>
            </a:r>
            <a:endParaRPr lang="fr-FR" sz="1200" b="0" u="none" strike="noStrike">
              <a:solidFill>
                <a:srgbClr val="ffffff"/>
              </a:solidFill>
              <a:effectLst/>
              <a:uFillTx/>
              <a:latin typeface="Arial"/>
            </a:endParaRPr>
          </a:p>
        </p:txBody>
      </p:sp>
      <p:sp>
        <p:nvSpPr>
          <p:cNvPr id="12" name="Text 2"/>
          <p:cNvSpPr/>
          <p:nvPr/>
        </p:nvSpPr>
        <p:spPr>
          <a:xfrm>
            <a:off x="914400" y="1920240"/>
            <a:ext cx="1005804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400" b="1" u="none" strike="noStrike">
                <a:solidFill>
                  <a:srgbClr val="ffffff"/>
                </a:solidFill>
                <a:effectLst/>
                <a:uFillTx/>
                <a:latin typeface="Georgia"/>
                <a:ea typeface="Georgia"/>
              </a:rPr>
              <a:t>Corpus Forge</a:t>
            </a:r>
            <a:endParaRPr lang="fr-FR" sz="8400" b="0" u="none" strike="noStrike">
              <a:solidFill>
                <a:srgbClr val="ffffff"/>
              </a:solidFill>
              <a:effectLst/>
              <a:uFillTx/>
              <a:latin typeface="Arial"/>
            </a:endParaRPr>
          </a:p>
        </p:txBody>
      </p:sp>
      <p:sp>
        <p:nvSpPr>
          <p:cNvPr id="13" name="Text 3"/>
          <p:cNvSpPr/>
          <p:nvPr/>
        </p:nvSpPr>
        <p:spPr>
          <a:xfrm>
            <a:off x="914400" y="3520440"/>
            <a:ext cx="10058040" cy="1279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200" b="0" u="none" strike="noStrike">
                <a:solidFill>
                  <a:srgbClr val="c8c8c8"/>
                </a:solidFill>
                <a:effectLst/>
                <a:uFillTx/>
                <a:latin typeface="Calibri"/>
                <a:ea typeface="Calibri"/>
              </a:rPr>
              <a:t>Turning heterogeneous documents into</a:t>
            </a:r>
            <a:endParaRPr lang="fr-FR" sz="2200" b="0" u="none" strike="noStrike">
              <a:solidFill>
                <a:srgbClr val="ffffff"/>
              </a:solidFill>
              <a:effectLst/>
              <a:uFillTx/>
              <a:latin typeface="Arial"/>
            </a:endParaRPr>
          </a:p>
          <a:p>
            <a:pPr defTabSz="914400">
              <a:lnSpc>
                <a:spcPct val="100000"/>
              </a:lnSpc>
              <a:tabLst>
                <a:tab algn="l" pos="0"/>
              </a:tabLst>
            </a:pPr>
            <a:r>
              <a:rPr lang="en-US" sz="2200" b="0" u="none" strike="noStrike">
                <a:solidFill>
                  <a:srgbClr val="c8c8c8"/>
                </a:solidFill>
                <a:effectLst/>
                <a:uFillTx/>
                <a:latin typeface="Calibri"/>
                <a:ea typeface="Calibri"/>
              </a:rPr>
              <a:t>actionable knowledge with RAG</a:t>
            </a:r>
            <a:endParaRPr lang="fr-FR" sz="2200" b="0" u="none" strike="noStrike">
              <a:solidFill>
                <a:srgbClr val="ffffff"/>
              </a:solidFill>
              <a:effectLst/>
              <a:uFillTx/>
              <a:latin typeface="Arial"/>
            </a:endParaRPr>
          </a:p>
        </p:txBody>
      </p:sp>
      <p:sp>
        <p:nvSpPr>
          <p:cNvPr id="14" name="Shape 4"/>
          <p:cNvSpPr/>
          <p:nvPr/>
        </p:nvSpPr>
        <p:spPr>
          <a:xfrm>
            <a:off x="914400" y="5029200"/>
            <a:ext cx="1096920" cy="27000"/>
          </a:xfrm>
          <a:prstGeom prst="rect">
            <a:avLst/>
          </a:prstGeom>
          <a:solidFill>
            <a:srgbClr val="0d9488"/>
          </a:solidFill>
          <a:ln w="12700">
            <a:solidFill>
              <a:srgbClr val="0d9488"/>
            </a:solidFill>
            <a:round/>
          </a:ln>
        </p:spPr>
        <p:style>
          <a:lnRef idx="0"/>
          <a:fillRef idx="0"/>
          <a:effectRef idx="0"/>
          <a:fontRef idx="minor"/>
        </p:style>
        <p:txBody>
          <a:bodyPr lIns="90000" rIns="90000" tIns="-17640" bIns="-17640" anchor="t">
            <a:noAutofit/>
          </a:bodyPr>
          <a:p>
            <a:endParaRPr lang="fr-FR" sz="1800" b="0" u="none" strike="noStrike">
              <a:solidFill>
                <a:srgbClr val="ffffff"/>
              </a:solidFill>
              <a:effectLst/>
              <a:uFillTx/>
              <a:latin typeface="Arial"/>
            </a:endParaRPr>
          </a:p>
        </p:txBody>
      </p:sp>
      <p:sp>
        <p:nvSpPr>
          <p:cNvPr id="15" name="Text 5"/>
          <p:cNvSpPr/>
          <p:nvPr/>
        </p:nvSpPr>
        <p:spPr>
          <a:xfrm>
            <a:off x="914400" y="5257800"/>
            <a:ext cx="7314840" cy="1279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trike="noStrike">
                <a:solidFill>
                  <a:srgbClr val="ffffff"/>
                </a:solidFill>
                <a:effectLst/>
                <a:uFillTx/>
                <a:latin typeface="Calibri"/>
                <a:ea typeface="Calibri"/>
              </a:rPr>
              <a:t>Youssef Kang</a:t>
            </a:r>
            <a:endParaRPr lang="fr-FR" sz="1400" b="0" u="none" strike="noStrike">
              <a:solidFill>
                <a:srgbClr val="ffffff"/>
              </a:solidFill>
              <a:effectLst/>
              <a:uFillTx/>
              <a:latin typeface="Arial"/>
            </a:endParaRPr>
          </a:p>
          <a:p>
            <a:pPr defTabSz="914400">
              <a:lnSpc>
                <a:spcPct val="100000"/>
              </a:lnSpc>
              <a:tabLst>
                <a:tab algn="l" pos="0"/>
              </a:tabLst>
            </a:pPr>
            <a:r>
              <a:rPr lang="en-US" sz="1400" b="1" u="none" strike="noStrike">
                <a:solidFill>
                  <a:srgbClr val="ffffff"/>
                </a:solidFill>
                <a:effectLst/>
                <a:uFillTx/>
                <a:latin typeface="Calibri"/>
                <a:ea typeface="Calibri"/>
              </a:rPr>
              <a:t>Quang Phuc Hoang</a:t>
            </a:r>
            <a:endParaRPr lang="fr-FR" sz="1400" b="0" u="none" strike="noStrike">
              <a:solidFill>
                <a:srgbClr val="ffffff"/>
              </a:solidFill>
              <a:effectLst/>
              <a:uFillTx/>
              <a:latin typeface="Arial"/>
            </a:endParaRPr>
          </a:p>
          <a:p>
            <a:pPr defTabSz="914400">
              <a:lnSpc>
                <a:spcPct val="100000"/>
              </a:lnSpc>
              <a:tabLst>
                <a:tab algn="l" pos="0"/>
              </a:tabLst>
            </a:pPr>
            <a:r>
              <a:rPr lang="en-US" sz="1400" b="0" u="none" strike="noStrike">
                <a:solidFill>
                  <a:srgbClr val="9a9a9a"/>
                </a:solidFill>
                <a:effectLst/>
                <a:uFillTx/>
                <a:latin typeface="Calibri"/>
                <a:ea typeface="Calibri"/>
              </a:rPr>
              <a:t>EPITA  ·  May 28, 2026</a:t>
            </a:r>
            <a:endParaRPr lang="fr-FR" sz="14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01  ·  MOTIVATION</a:t>
            </a:r>
            <a:endParaRPr lang="fr-FR" sz="1100" b="0" u="none" strike="noStrike">
              <a:solidFill>
                <a:srgbClr val="000000"/>
              </a:solidFill>
              <a:effectLst/>
              <a:uFillTx/>
              <a:latin typeface="Arial"/>
            </a:endParaRPr>
          </a:p>
        </p:txBody>
      </p:sp>
      <p:sp>
        <p:nvSpPr>
          <p:cNvPr id="17"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Documents you have. Answers you don't.</a:t>
            </a:r>
            <a:endParaRPr lang="fr-FR" sz="3600" b="0" u="none" strike="noStrike">
              <a:solidFill>
                <a:srgbClr val="000000"/>
              </a:solidFill>
              <a:effectLst/>
              <a:uFillTx/>
              <a:latin typeface="Arial"/>
            </a:endParaRPr>
          </a:p>
        </p:txBody>
      </p:sp>
      <p:sp>
        <p:nvSpPr>
          <p:cNvPr id="18"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19" name="Text 3"/>
          <p:cNvSpPr/>
          <p:nvPr/>
        </p:nvSpPr>
        <p:spPr>
          <a:xfrm>
            <a:off x="548640" y="1691640"/>
            <a:ext cx="658332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0" u="none" strike="noStrike">
                <a:solidFill>
                  <a:srgbClr val="2b2b2b"/>
                </a:solidFill>
                <a:effectLst/>
                <a:uFillTx/>
                <a:latin typeface="Calibri"/>
                <a:ea typeface="Calibri"/>
              </a:rPr>
              <a:t>Engineering teams sit on piles of mixed-format files: PDFs, source code, notes, specs. Reading through them to find one answer is slow, and a general-purpose chatbot doesn't know your stuff.</a:t>
            </a:r>
            <a:endParaRPr lang="fr-FR" sz="1600" b="0" u="none" strike="noStrike">
              <a:solidFill>
                <a:srgbClr val="000000"/>
              </a:solidFill>
              <a:effectLst/>
              <a:uFillTx/>
              <a:latin typeface="Arial"/>
            </a:endParaRPr>
          </a:p>
        </p:txBody>
      </p:sp>
      <p:sp>
        <p:nvSpPr>
          <p:cNvPr id="20" name="Text 4"/>
          <p:cNvSpPr/>
          <p:nvPr/>
        </p:nvSpPr>
        <p:spPr>
          <a:xfrm>
            <a:off x="548640" y="3246120"/>
            <a:ext cx="6583320" cy="1462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0" u="none" strike="noStrike">
                <a:solidFill>
                  <a:srgbClr val="2b2b2b"/>
                </a:solidFill>
                <a:effectLst/>
                <a:uFillTx/>
                <a:latin typeface="Calibri"/>
                <a:ea typeface="Calibri"/>
              </a:rPr>
              <a:t>Corpus Forge ingests a mixed corpus, lets the user pick what's in scope, and exposes it through retrieval-grounded workflows: chat, flashcards, quizzes, code review, architecture reports.</a:t>
            </a:r>
            <a:endParaRPr lang="fr-FR" sz="1600" b="0" u="none" strike="noStrike">
              <a:solidFill>
                <a:srgbClr val="000000"/>
              </a:solidFill>
              <a:effectLst/>
              <a:uFillTx/>
              <a:latin typeface="Arial"/>
            </a:endParaRPr>
          </a:p>
        </p:txBody>
      </p:sp>
      <p:sp>
        <p:nvSpPr>
          <p:cNvPr id="21" name="Shape 5"/>
          <p:cNvSpPr/>
          <p:nvPr/>
        </p:nvSpPr>
        <p:spPr>
          <a:xfrm>
            <a:off x="7680960" y="1691640"/>
            <a:ext cx="3931560" cy="43887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2" name="Text 6"/>
          <p:cNvSpPr/>
          <p:nvPr/>
        </p:nvSpPr>
        <p:spPr>
          <a:xfrm>
            <a:off x="7680960" y="1828800"/>
            <a:ext cx="3931560" cy="1462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0" b="1" u="none" strike="noStrike">
                <a:solidFill>
                  <a:srgbClr val="1a1a1a"/>
                </a:solidFill>
                <a:effectLst/>
                <a:uFillTx/>
                <a:latin typeface="Georgia"/>
                <a:ea typeface="Georgia"/>
              </a:rPr>
              <a:t>5</a:t>
            </a:r>
            <a:endParaRPr lang="fr-FR" sz="11000" b="0" u="none" strike="noStrike">
              <a:solidFill>
                <a:srgbClr val="000000"/>
              </a:solidFill>
              <a:effectLst/>
              <a:uFillTx/>
              <a:latin typeface="Arial"/>
            </a:endParaRPr>
          </a:p>
        </p:txBody>
      </p:sp>
      <p:sp>
        <p:nvSpPr>
          <p:cNvPr id="23" name="Text 7"/>
          <p:cNvSpPr/>
          <p:nvPr/>
        </p:nvSpPr>
        <p:spPr>
          <a:xfrm>
            <a:off x="7680960" y="3246120"/>
            <a:ext cx="39315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0" u="none" strike="noStrike">
                <a:solidFill>
                  <a:srgbClr val="6b6b6b"/>
                </a:solidFill>
                <a:effectLst/>
                <a:uFillTx/>
                <a:latin typeface="Calibri"/>
                <a:ea typeface="Calibri"/>
              </a:rPr>
              <a:t>file types ingested</a:t>
            </a:r>
            <a:endParaRPr lang="fr-FR" sz="1400" b="0" u="none" strike="noStrike">
              <a:solidFill>
                <a:srgbClr val="000000"/>
              </a:solidFill>
              <a:effectLst/>
              <a:uFillTx/>
              <a:latin typeface="Arial"/>
            </a:endParaRPr>
          </a:p>
        </p:txBody>
      </p:sp>
      <p:sp>
        <p:nvSpPr>
          <p:cNvPr id="24" name="Text 8"/>
          <p:cNvSpPr/>
          <p:nvPr/>
        </p:nvSpPr>
        <p:spPr>
          <a:xfrm>
            <a:off x="7680960" y="3657600"/>
            <a:ext cx="393156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1" u="none" strike="noStrike">
                <a:solidFill>
                  <a:srgbClr val="0d9488"/>
                </a:solidFill>
                <a:effectLst/>
                <a:uFillTx/>
                <a:latin typeface="Calibri"/>
                <a:ea typeface="Calibri"/>
              </a:rPr>
              <a:t>.txt   ·   .md   ·   .pdf   ·   .py   ·   .js</a:t>
            </a:r>
            <a:endParaRPr lang="fr-FR" sz="1300" b="0" u="none" strike="noStrike">
              <a:solidFill>
                <a:srgbClr val="000000"/>
              </a:solidFill>
              <a:effectLst/>
              <a:uFillTx/>
              <a:latin typeface="Arial"/>
            </a:endParaRPr>
          </a:p>
        </p:txBody>
      </p:sp>
      <p:sp>
        <p:nvSpPr>
          <p:cNvPr id="25" name="Shape 9"/>
          <p:cNvSpPr/>
          <p:nvPr/>
        </p:nvSpPr>
        <p:spPr>
          <a:xfrm>
            <a:off x="8229600" y="4206240"/>
            <a:ext cx="283428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26" name="Text 10"/>
          <p:cNvSpPr/>
          <p:nvPr/>
        </p:nvSpPr>
        <p:spPr>
          <a:xfrm>
            <a:off x="7680960" y="4389120"/>
            <a:ext cx="1919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4400" b="1" u="none" strike="noStrike">
                <a:solidFill>
                  <a:srgbClr val="1a1a1a"/>
                </a:solidFill>
                <a:effectLst/>
                <a:uFillTx/>
                <a:latin typeface="Georgia"/>
                <a:ea typeface="Georgia"/>
              </a:rPr>
              <a:t>4</a:t>
            </a:r>
            <a:endParaRPr lang="fr-FR" sz="4400" b="0" u="none" strike="noStrike">
              <a:solidFill>
                <a:srgbClr val="000000"/>
              </a:solidFill>
              <a:effectLst/>
              <a:uFillTx/>
              <a:latin typeface="Arial"/>
            </a:endParaRPr>
          </a:p>
        </p:txBody>
      </p:sp>
      <p:sp>
        <p:nvSpPr>
          <p:cNvPr id="27" name="Text 11"/>
          <p:cNvSpPr/>
          <p:nvPr/>
        </p:nvSpPr>
        <p:spPr>
          <a:xfrm>
            <a:off x="7680960" y="498348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0" u="none" strike="noStrike">
                <a:solidFill>
                  <a:srgbClr val="6b6b6b"/>
                </a:solidFill>
                <a:effectLst/>
                <a:uFillTx/>
                <a:latin typeface="Calibri"/>
                <a:ea typeface="Calibri"/>
              </a:rPr>
              <a:t>artifact types</a:t>
            </a:r>
            <a:endParaRPr lang="fr-FR" sz="1100" b="0" u="none" strike="noStrike">
              <a:solidFill>
                <a:srgbClr val="000000"/>
              </a:solidFill>
              <a:effectLst/>
              <a:uFillTx/>
              <a:latin typeface="Arial"/>
            </a:endParaRPr>
          </a:p>
        </p:txBody>
      </p:sp>
      <p:sp>
        <p:nvSpPr>
          <p:cNvPr id="28" name="Text 12"/>
          <p:cNvSpPr/>
          <p:nvPr/>
        </p:nvSpPr>
        <p:spPr>
          <a:xfrm>
            <a:off x="9601200" y="4389120"/>
            <a:ext cx="1919880" cy="6397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4400" b="1" u="none" strike="noStrike">
                <a:solidFill>
                  <a:srgbClr val="1a1a1a"/>
                </a:solidFill>
                <a:effectLst/>
                <a:uFillTx/>
                <a:latin typeface="Georgia"/>
                <a:ea typeface="Georgia"/>
              </a:rPr>
              <a:t>2</a:t>
            </a:r>
            <a:endParaRPr lang="fr-FR" sz="4400" b="0" u="none" strike="noStrike">
              <a:solidFill>
                <a:srgbClr val="000000"/>
              </a:solidFill>
              <a:effectLst/>
              <a:uFillTx/>
              <a:latin typeface="Arial"/>
            </a:endParaRPr>
          </a:p>
        </p:txBody>
      </p:sp>
      <p:sp>
        <p:nvSpPr>
          <p:cNvPr id="29" name="Text 13"/>
          <p:cNvSpPr/>
          <p:nvPr/>
        </p:nvSpPr>
        <p:spPr>
          <a:xfrm>
            <a:off x="9601200" y="4983480"/>
            <a:ext cx="191988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100" b="0" u="none" strike="noStrike">
                <a:solidFill>
                  <a:srgbClr val="6b6b6b"/>
                </a:solidFill>
                <a:effectLst/>
                <a:uFillTx/>
                <a:latin typeface="Calibri"/>
                <a:ea typeface="Calibri"/>
              </a:rPr>
              <a:t>retrieval strategies</a:t>
            </a:r>
            <a:endParaRPr lang="fr-FR" sz="1100" b="0" u="none" strike="noStrike">
              <a:solidFill>
                <a:srgbClr val="000000"/>
              </a:solidFill>
              <a:effectLst/>
              <a:uFillTx/>
              <a:latin typeface="Arial"/>
            </a:endParaRPr>
          </a:p>
        </p:txBody>
      </p:sp>
      <p:sp>
        <p:nvSpPr>
          <p:cNvPr id="30" name="Text 14"/>
          <p:cNvSpPr/>
          <p:nvPr/>
        </p:nvSpPr>
        <p:spPr>
          <a:xfrm>
            <a:off x="7680960" y="5623560"/>
            <a:ext cx="39315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i="1" u="none" strike="noStrike">
                <a:solidFill>
                  <a:srgbClr val="6b6b6b"/>
                </a:solidFill>
                <a:effectLst/>
                <a:uFillTx/>
                <a:latin typeface="Calibri"/>
                <a:ea typeface="Calibri"/>
              </a:rPr>
              <a:t>local-first   ·   no billing   ·   single command run</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1"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02  ·  THE SYSTEM</a:t>
            </a:r>
            <a:endParaRPr lang="fr-FR" sz="1100" b="0" u="none" strike="noStrike">
              <a:solidFill>
                <a:srgbClr val="000000"/>
              </a:solidFill>
              <a:effectLst/>
              <a:uFillTx/>
              <a:latin typeface="Arial"/>
            </a:endParaRPr>
          </a:p>
        </p:txBody>
      </p:sp>
      <p:sp>
        <p:nvSpPr>
          <p:cNvPr id="32"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What Corpus Forge does</a:t>
            </a:r>
            <a:endParaRPr lang="fr-FR" sz="3600" b="0" u="none" strike="noStrike">
              <a:solidFill>
                <a:srgbClr val="000000"/>
              </a:solidFill>
              <a:effectLst/>
              <a:uFillTx/>
              <a:latin typeface="Arial"/>
            </a:endParaRPr>
          </a:p>
        </p:txBody>
      </p:sp>
      <p:sp>
        <p:nvSpPr>
          <p:cNvPr id="33"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34" name="Shape 3"/>
          <p:cNvSpPr/>
          <p:nvPr/>
        </p:nvSpPr>
        <p:spPr>
          <a:xfrm>
            <a:off x="548640" y="1828800"/>
            <a:ext cx="3565800" cy="14169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35" name="Shape 4"/>
          <p:cNvSpPr/>
          <p:nvPr/>
        </p:nvSpPr>
        <p:spPr>
          <a:xfrm>
            <a:off x="548640" y="1828800"/>
            <a:ext cx="54360" cy="14169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36" name="Image 0" descr="preencoded.png"/>
          <p:cNvPicPr/>
          <p:nvPr/>
        </p:nvPicPr>
        <p:blipFill>
          <a:blip r:embed="rId1"/>
          <a:stretch/>
        </p:blipFill>
        <p:spPr>
          <a:xfrm>
            <a:off x="777240" y="2030040"/>
            <a:ext cx="365400" cy="365400"/>
          </a:xfrm>
          <a:prstGeom prst="rect">
            <a:avLst/>
          </a:prstGeom>
          <a:noFill/>
          <a:ln w="0">
            <a:noFill/>
          </a:ln>
        </p:spPr>
      </p:pic>
      <p:sp>
        <p:nvSpPr>
          <p:cNvPr id="37" name="Text 5"/>
          <p:cNvSpPr/>
          <p:nvPr/>
        </p:nvSpPr>
        <p:spPr>
          <a:xfrm>
            <a:off x="1234440" y="201168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Ingest</a:t>
            </a:r>
            <a:endParaRPr lang="fr-FR" sz="1800" b="0" u="none" strike="noStrike">
              <a:solidFill>
                <a:srgbClr val="000000"/>
              </a:solidFill>
              <a:effectLst/>
              <a:uFillTx/>
              <a:latin typeface="Arial"/>
            </a:endParaRPr>
          </a:p>
        </p:txBody>
      </p:sp>
      <p:sp>
        <p:nvSpPr>
          <p:cNvPr id="38" name="Text 6"/>
          <p:cNvSpPr/>
          <p:nvPr/>
        </p:nvSpPr>
        <p:spPr>
          <a:xfrm>
            <a:off x="777240" y="2487240"/>
            <a:ext cx="32000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Drop in .txt, .md, .pdf, .py or .js. PyMuPDF strips PDFs to text.</a:t>
            </a:r>
            <a:endParaRPr lang="fr-FR" sz="1150" b="0" u="none" strike="noStrike">
              <a:solidFill>
                <a:srgbClr val="000000"/>
              </a:solidFill>
              <a:effectLst/>
              <a:uFillTx/>
              <a:latin typeface="Arial"/>
            </a:endParaRPr>
          </a:p>
        </p:txBody>
      </p:sp>
      <p:sp>
        <p:nvSpPr>
          <p:cNvPr id="39" name="Shape 7"/>
          <p:cNvSpPr/>
          <p:nvPr/>
        </p:nvSpPr>
        <p:spPr>
          <a:xfrm>
            <a:off x="4343400" y="1828800"/>
            <a:ext cx="3565800" cy="14169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40" name="Shape 8"/>
          <p:cNvSpPr/>
          <p:nvPr/>
        </p:nvSpPr>
        <p:spPr>
          <a:xfrm>
            <a:off x="4343400" y="1828800"/>
            <a:ext cx="54360" cy="14169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41" name="Image 1" descr="preencoded.png"/>
          <p:cNvPicPr/>
          <p:nvPr/>
        </p:nvPicPr>
        <p:blipFill>
          <a:blip r:embed="rId2"/>
          <a:stretch/>
        </p:blipFill>
        <p:spPr>
          <a:xfrm>
            <a:off x="4572000" y="2030040"/>
            <a:ext cx="365400" cy="365400"/>
          </a:xfrm>
          <a:prstGeom prst="rect">
            <a:avLst/>
          </a:prstGeom>
          <a:noFill/>
          <a:ln w="0">
            <a:noFill/>
          </a:ln>
        </p:spPr>
      </p:pic>
      <p:sp>
        <p:nvSpPr>
          <p:cNvPr id="42" name="Text 9"/>
          <p:cNvSpPr/>
          <p:nvPr/>
        </p:nvSpPr>
        <p:spPr>
          <a:xfrm>
            <a:off x="5029200" y="201168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Manage</a:t>
            </a:r>
            <a:endParaRPr lang="fr-FR" sz="1800" b="0" u="none" strike="noStrike">
              <a:solidFill>
                <a:srgbClr val="000000"/>
              </a:solidFill>
              <a:effectLst/>
              <a:uFillTx/>
              <a:latin typeface="Arial"/>
            </a:endParaRPr>
          </a:p>
        </p:txBody>
      </p:sp>
      <p:sp>
        <p:nvSpPr>
          <p:cNvPr id="43" name="Text 10"/>
          <p:cNvSpPr/>
          <p:nvPr/>
        </p:nvSpPr>
        <p:spPr>
          <a:xfrm>
            <a:off x="4572000" y="2487240"/>
            <a:ext cx="32000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Add, remove, browse. Toggle which docs are active for retrieval.</a:t>
            </a:r>
            <a:endParaRPr lang="fr-FR" sz="1150" b="0" u="none" strike="noStrike">
              <a:solidFill>
                <a:srgbClr val="000000"/>
              </a:solidFill>
              <a:effectLst/>
              <a:uFillTx/>
              <a:latin typeface="Arial"/>
            </a:endParaRPr>
          </a:p>
        </p:txBody>
      </p:sp>
      <p:sp>
        <p:nvSpPr>
          <p:cNvPr id="44" name="Shape 11"/>
          <p:cNvSpPr/>
          <p:nvPr/>
        </p:nvSpPr>
        <p:spPr>
          <a:xfrm>
            <a:off x="8138160" y="1828800"/>
            <a:ext cx="3565800" cy="14169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45" name="Shape 12"/>
          <p:cNvSpPr/>
          <p:nvPr/>
        </p:nvSpPr>
        <p:spPr>
          <a:xfrm>
            <a:off x="8138160" y="1828800"/>
            <a:ext cx="54360" cy="14169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46" name="Image 2" descr="preencoded.png"/>
          <p:cNvPicPr/>
          <p:nvPr/>
        </p:nvPicPr>
        <p:blipFill>
          <a:blip r:embed="rId3"/>
          <a:stretch/>
        </p:blipFill>
        <p:spPr>
          <a:xfrm>
            <a:off x="8366760" y="2030040"/>
            <a:ext cx="365400" cy="365400"/>
          </a:xfrm>
          <a:prstGeom prst="rect">
            <a:avLst/>
          </a:prstGeom>
          <a:noFill/>
          <a:ln w="0">
            <a:noFill/>
          </a:ln>
        </p:spPr>
      </p:pic>
      <p:sp>
        <p:nvSpPr>
          <p:cNvPr id="47" name="Text 13"/>
          <p:cNvSpPr/>
          <p:nvPr/>
        </p:nvSpPr>
        <p:spPr>
          <a:xfrm>
            <a:off x="8823960" y="201168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Chat</a:t>
            </a:r>
            <a:endParaRPr lang="fr-FR" sz="1800" b="0" u="none" strike="noStrike">
              <a:solidFill>
                <a:srgbClr val="000000"/>
              </a:solidFill>
              <a:effectLst/>
              <a:uFillTx/>
              <a:latin typeface="Arial"/>
            </a:endParaRPr>
          </a:p>
        </p:txBody>
      </p:sp>
      <p:sp>
        <p:nvSpPr>
          <p:cNvPr id="48" name="Text 14"/>
          <p:cNvSpPr/>
          <p:nvPr/>
        </p:nvSpPr>
        <p:spPr>
          <a:xfrm>
            <a:off x="8366760" y="2487240"/>
            <a:ext cx="32000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Ask questions grounded in the active corpus, with cited chunks.</a:t>
            </a:r>
            <a:endParaRPr lang="fr-FR" sz="1150" b="0" u="none" strike="noStrike">
              <a:solidFill>
                <a:srgbClr val="000000"/>
              </a:solidFill>
              <a:effectLst/>
              <a:uFillTx/>
              <a:latin typeface="Arial"/>
            </a:endParaRPr>
          </a:p>
        </p:txBody>
      </p:sp>
      <p:sp>
        <p:nvSpPr>
          <p:cNvPr id="49" name="Shape 15"/>
          <p:cNvSpPr/>
          <p:nvPr/>
        </p:nvSpPr>
        <p:spPr>
          <a:xfrm>
            <a:off x="548640" y="3520440"/>
            <a:ext cx="3565800" cy="14169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50" name="Shape 16"/>
          <p:cNvSpPr/>
          <p:nvPr/>
        </p:nvSpPr>
        <p:spPr>
          <a:xfrm>
            <a:off x="548640" y="3520440"/>
            <a:ext cx="54360" cy="14169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51" name="Image 3" descr="preencoded.png"/>
          <p:cNvPicPr/>
          <p:nvPr/>
        </p:nvPicPr>
        <p:blipFill>
          <a:blip r:embed="rId4"/>
          <a:stretch/>
        </p:blipFill>
        <p:spPr>
          <a:xfrm>
            <a:off x="777240" y="3721680"/>
            <a:ext cx="365400" cy="365400"/>
          </a:xfrm>
          <a:prstGeom prst="rect">
            <a:avLst/>
          </a:prstGeom>
          <a:noFill/>
          <a:ln w="0">
            <a:noFill/>
          </a:ln>
        </p:spPr>
      </p:pic>
      <p:sp>
        <p:nvSpPr>
          <p:cNvPr id="52" name="Text 17"/>
          <p:cNvSpPr/>
          <p:nvPr/>
        </p:nvSpPr>
        <p:spPr>
          <a:xfrm>
            <a:off x="1234440" y="370332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Study</a:t>
            </a:r>
            <a:endParaRPr lang="fr-FR" sz="1800" b="0" u="none" strike="noStrike">
              <a:solidFill>
                <a:srgbClr val="000000"/>
              </a:solidFill>
              <a:effectLst/>
              <a:uFillTx/>
              <a:latin typeface="Arial"/>
            </a:endParaRPr>
          </a:p>
        </p:txBody>
      </p:sp>
      <p:sp>
        <p:nvSpPr>
          <p:cNvPr id="53" name="Text 18"/>
          <p:cNvSpPr/>
          <p:nvPr/>
        </p:nvSpPr>
        <p:spPr>
          <a:xfrm>
            <a:off x="777240" y="4178880"/>
            <a:ext cx="32000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Generate flashcards and quizzes from selected documents.</a:t>
            </a:r>
            <a:endParaRPr lang="fr-FR" sz="1150" b="0" u="none" strike="noStrike">
              <a:solidFill>
                <a:srgbClr val="000000"/>
              </a:solidFill>
              <a:effectLst/>
              <a:uFillTx/>
              <a:latin typeface="Arial"/>
            </a:endParaRPr>
          </a:p>
        </p:txBody>
      </p:sp>
      <p:sp>
        <p:nvSpPr>
          <p:cNvPr id="54" name="Shape 19"/>
          <p:cNvSpPr/>
          <p:nvPr/>
        </p:nvSpPr>
        <p:spPr>
          <a:xfrm>
            <a:off x="4343400" y="3520440"/>
            <a:ext cx="3565800" cy="14169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55" name="Shape 20"/>
          <p:cNvSpPr/>
          <p:nvPr/>
        </p:nvSpPr>
        <p:spPr>
          <a:xfrm>
            <a:off x="4343400" y="3520440"/>
            <a:ext cx="54360" cy="14169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56" name="Image 4" descr="preencoded.png"/>
          <p:cNvPicPr/>
          <p:nvPr/>
        </p:nvPicPr>
        <p:blipFill>
          <a:blip r:embed="rId5"/>
          <a:stretch/>
        </p:blipFill>
        <p:spPr>
          <a:xfrm>
            <a:off x="4572000" y="3721680"/>
            <a:ext cx="365400" cy="365400"/>
          </a:xfrm>
          <a:prstGeom prst="rect">
            <a:avLst/>
          </a:prstGeom>
          <a:noFill/>
          <a:ln w="0">
            <a:noFill/>
          </a:ln>
        </p:spPr>
      </p:pic>
      <p:sp>
        <p:nvSpPr>
          <p:cNvPr id="57" name="Text 21"/>
          <p:cNvSpPr/>
          <p:nvPr/>
        </p:nvSpPr>
        <p:spPr>
          <a:xfrm>
            <a:off x="5029200" y="370332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Audit</a:t>
            </a:r>
            <a:endParaRPr lang="fr-FR" sz="1800" b="0" u="none" strike="noStrike">
              <a:solidFill>
                <a:srgbClr val="000000"/>
              </a:solidFill>
              <a:effectLst/>
              <a:uFillTx/>
              <a:latin typeface="Arial"/>
            </a:endParaRPr>
          </a:p>
        </p:txBody>
      </p:sp>
      <p:sp>
        <p:nvSpPr>
          <p:cNvPr id="58" name="Text 22"/>
          <p:cNvSpPr/>
          <p:nvPr/>
        </p:nvSpPr>
        <p:spPr>
          <a:xfrm>
            <a:off x="4572000" y="4178880"/>
            <a:ext cx="32000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Run code-review and architecture reports on source-code corpora.</a:t>
            </a:r>
            <a:endParaRPr lang="fr-FR" sz="1150" b="0" u="none" strike="noStrike">
              <a:solidFill>
                <a:srgbClr val="000000"/>
              </a:solidFill>
              <a:effectLst/>
              <a:uFillTx/>
              <a:latin typeface="Arial"/>
            </a:endParaRPr>
          </a:p>
        </p:txBody>
      </p:sp>
      <p:sp>
        <p:nvSpPr>
          <p:cNvPr id="59" name="Shape 23"/>
          <p:cNvSpPr/>
          <p:nvPr/>
        </p:nvSpPr>
        <p:spPr>
          <a:xfrm>
            <a:off x="8138160" y="3520440"/>
            <a:ext cx="3565800" cy="14169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60" name="Shape 24"/>
          <p:cNvSpPr/>
          <p:nvPr/>
        </p:nvSpPr>
        <p:spPr>
          <a:xfrm>
            <a:off x="8138160" y="3520440"/>
            <a:ext cx="54360" cy="14169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61" name="Image 5" descr="preencoded.png"/>
          <p:cNvPicPr/>
          <p:nvPr/>
        </p:nvPicPr>
        <p:blipFill>
          <a:blip r:embed="rId6"/>
          <a:stretch/>
        </p:blipFill>
        <p:spPr>
          <a:xfrm>
            <a:off x="8366760" y="3721680"/>
            <a:ext cx="365400" cy="365400"/>
          </a:xfrm>
          <a:prstGeom prst="rect">
            <a:avLst/>
          </a:prstGeom>
          <a:noFill/>
          <a:ln w="0">
            <a:noFill/>
          </a:ln>
        </p:spPr>
      </p:pic>
      <p:sp>
        <p:nvSpPr>
          <p:cNvPr id="62" name="Text 25"/>
          <p:cNvSpPr/>
          <p:nvPr/>
        </p:nvSpPr>
        <p:spPr>
          <a:xfrm>
            <a:off x="8823960" y="3703320"/>
            <a:ext cx="2742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Steer</a:t>
            </a:r>
            <a:endParaRPr lang="fr-FR" sz="1800" b="0" u="none" strike="noStrike">
              <a:solidFill>
                <a:srgbClr val="000000"/>
              </a:solidFill>
              <a:effectLst/>
              <a:uFillTx/>
              <a:latin typeface="Arial"/>
            </a:endParaRPr>
          </a:p>
        </p:txBody>
      </p:sp>
      <p:sp>
        <p:nvSpPr>
          <p:cNvPr id="63" name="Text 26"/>
          <p:cNvSpPr/>
          <p:nvPr/>
        </p:nvSpPr>
        <p:spPr>
          <a:xfrm>
            <a:off x="8366760" y="4178880"/>
            <a:ext cx="3200040" cy="685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Tune audience, tone, format and creativity per generation.</a:t>
            </a:r>
            <a:endParaRPr lang="fr-FR" sz="1150" b="0" u="none" strike="noStrike">
              <a:solidFill>
                <a:srgbClr val="000000"/>
              </a:solidFill>
              <a:effectLst/>
              <a:uFillTx/>
              <a:latin typeface="Arial"/>
            </a:endParaRPr>
          </a:p>
        </p:txBody>
      </p:sp>
      <p:sp>
        <p:nvSpPr>
          <p:cNvPr id="64" name="Text 27"/>
          <p:cNvSpPr/>
          <p:nvPr/>
        </p:nvSpPr>
        <p:spPr>
          <a:xfrm>
            <a:off x="548640" y="5989320"/>
            <a:ext cx="11063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0" i="1" u="none" strike="noStrike">
                <a:solidFill>
                  <a:srgbClr val="6b6b6b"/>
                </a:solidFill>
                <a:effectLst/>
                <a:uFillTx/>
                <a:latin typeface="Calibri"/>
                <a:ea typeface="Calibri"/>
              </a:rPr>
              <a:t>Everything persists across runs in SQLite  ·  every AI call is logged with token usage</a:t>
            </a:r>
            <a:endParaRPr lang="fr-F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65" name="Shape 0"/>
          <p:cNvSpPr/>
          <p:nvPr/>
        </p:nvSpPr>
        <p:spPr>
          <a:xfrm>
            <a:off x="0" y="0"/>
            <a:ext cx="319680" cy="685764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66" name="Text 1"/>
          <p:cNvSpPr/>
          <p:nvPr/>
        </p:nvSpPr>
        <p:spPr>
          <a:xfrm>
            <a:off x="914400" y="2194560"/>
            <a:ext cx="10058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400" b="1" u="none" spc="601" strike="noStrike">
                <a:solidFill>
                  <a:srgbClr val="5eead4"/>
                </a:solidFill>
                <a:effectLst/>
                <a:uFillTx/>
                <a:latin typeface="Calibri"/>
                <a:ea typeface="Calibri"/>
              </a:rPr>
              <a:t>03  ·  DEMO</a:t>
            </a:r>
            <a:endParaRPr lang="fr-FR" sz="1400" b="0" u="none" strike="noStrike">
              <a:solidFill>
                <a:srgbClr val="ffffff"/>
              </a:solidFill>
              <a:effectLst/>
              <a:uFillTx/>
              <a:latin typeface="Arial"/>
            </a:endParaRPr>
          </a:p>
        </p:txBody>
      </p:sp>
      <p:sp>
        <p:nvSpPr>
          <p:cNvPr id="67" name="Text 2"/>
          <p:cNvSpPr/>
          <p:nvPr/>
        </p:nvSpPr>
        <p:spPr>
          <a:xfrm>
            <a:off x="914400" y="2606040"/>
            <a:ext cx="10058040" cy="11883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400" b="1" u="none" strike="noStrike">
                <a:solidFill>
                  <a:srgbClr val="ffffff"/>
                </a:solidFill>
                <a:effectLst/>
                <a:uFillTx/>
                <a:latin typeface="Georgia"/>
                <a:ea typeface="Georgia"/>
              </a:rPr>
              <a:t>Live Demo</a:t>
            </a:r>
            <a:endParaRPr lang="fr-FR" sz="6400" b="0" u="none" strike="noStrike">
              <a:solidFill>
                <a:srgbClr val="ffffff"/>
              </a:solidFill>
              <a:effectLst/>
              <a:uFillTx/>
              <a:latin typeface="Arial"/>
            </a:endParaRPr>
          </a:p>
        </p:txBody>
      </p:sp>
      <p:sp>
        <p:nvSpPr>
          <p:cNvPr id="68" name="Text 4"/>
          <p:cNvSpPr/>
          <p:nvPr/>
        </p:nvSpPr>
        <p:spPr>
          <a:xfrm>
            <a:off x="914400" y="5760720"/>
            <a:ext cx="36572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i="1" u="none" strike="noStrike">
                <a:solidFill>
                  <a:srgbClr val="6b6b6b"/>
                </a:solidFill>
                <a:effectLst/>
                <a:uFillTx/>
                <a:latin typeface="Calibri"/>
                <a:ea typeface="Calibri"/>
              </a:rPr>
              <a:t>3 minutes</a:t>
            </a:r>
            <a:endParaRPr lang="fr-FR"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04  ·  ARCHITECTURE</a:t>
            </a:r>
            <a:endParaRPr lang="fr-FR" sz="1100" b="0" u="none" strike="noStrike">
              <a:solidFill>
                <a:srgbClr val="000000"/>
              </a:solidFill>
              <a:effectLst/>
              <a:uFillTx/>
              <a:latin typeface="Arial"/>
            </a:endParaRPr>
          </a:p>
        </p:txBody>
      </p:sp>
      <p:sp>
        <p:nvSpPr>
          <p:cNvPr id="70"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Single-file Flask monolith, three layers</a:t>
            </a:r>
            <a:endParaRPr lang="fr-FR" sz="3600" b="0" u="none" strike="noStrike">
              <a:solidFill>
                <a:srgbClr val="000000"/>
              </a:solidFill>
              <a:effectLst/>
              <a:uFillTx/>
              <a:latin typeface="Arial"/>
            </a:endParaRPr>
          </a:p>
        </p:txBody>
      </p:sp>
      <p:sp>
        <p:nvSpPr>
          <p:cNvPr id="71"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72" name="Shape 3"/>
          <p:cNvSpPr/>
          <p:nvPr/>
        </p:nvSpPr>
        <p:spPr>
          <a:xfrm>
            <a:off x="548640" y="2331720"/>
            <a:ext cx="2194200" cy="13712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73" name="Text 4"/>
          <p:cNvSpPr/>
          <p:nvPr/>
        </p:nvSpPr>
        <p:spPr>
          <a:xfrm>
            <a:off x="548640" y="2377440"/>
            <a:ext cx="21942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1a1a1a"/>
                </a:solidFill>
                <a:effectLst/>
                <a:uFillTx/>
                <a:latin typeface="Georgia"/>
                <a:ea typeface="Georgia"/>
              </a:rPr>
              <a:t>Browser</a:t>
            </a:r>
            <a:endParaRPr lang="fr-FR" sz="1600" b="0" u="none" strike="noStrike">
              <a:solidFill>
                <a:srgbClr val="000000"/>
              </a:solidFill>
              <a:effectLst/>
              <a:uFillTx/>
              <a:latin typeface="Arial"/>
            </a:endParaRPr>
          </a:p>
        </p:txBody>
      </p:sp>
      <p:sp>
        <p:nvSpPr>
          <p:cNvPr id="74" name="Text 5"/>
          <p:cNvSpPr/>
          <p:nvPr/>
        </p:nvSpPr>
        <p:spPr>
          <a:xfrm>
            <a:off x="548640" y="2743200"/>
            <a:ext cx="2194200" cy="914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0" u="none" strike="noStrike">
                <a:solidFill>
                  <a:srgbClr val="6b6b6b"/>
                </a:solidFill>
                <a:effectLst/>
                <a:uFillTx/>
                <a:latin typeface="Calibri"/>
                <a:ea typeface="Calibri"/>
              </a:rPr>
              <a:t>templates/index.html</a:t>
            </a:r>
            <a:endParaRPr lang="fr-FR" sz="1050" b="0" u="none" strike="noStrike">
              <a:solidFill>
                <a:srgbClr val="000000"/>
              </a:solidFill>
              <a:effectLst/>
              <a:uFillTx/>
              <a:latin typeface="Arial"/>
            </a:endParaRPr>
          </a:p>
          <a:p>
            <a:pPr algn="ctr" defTabSz="914400">
              <a:lnSpc>
                <a:spcPct val="100000"/>
              </a:lnSpc>
              <a:tabLst>
                <a:tab algn="l" pos="0"/>
              </a:tabLst>
            </a:pPr>
            <a:r>
              <a:rPr lang="en-US" sz="1050" b="0" u="none" strike="noStrike">
                <a:solidFill>
                  <a:srgbClr val="6b6b6b"/>
                </a:solidFill>
                <a:effectLst/>
                <a:uFillTx/>
                <a:latin typeface="Calibri"/>
                <a:ea typeface="Calibri"/>
              </a:rPr>
              <a:t>vanilla JS  ·  inline CSS</a:t>
            </a:r>
            <a:endParaRPr lang="fr-FR" sz="1050" b="0" u="none" strike="noStrike">
              <a:solidFill>
                <a:srgbClr val="000000"/>
              </a:solidFill>
              <a:effectLst/>
              <a:uFillTx/>
              <a:latin typeface="Arial"/>
            </a:endParaRPr>
          </a:p>
        </p:txBody>
      </p:sp>
      <p:sp>
        <p:nvSpPr>
          <p:cNvPr id="75" name="Shape 6"/>
          <p:cNvSpPr/>
          <p:nvPr/>
        </p:nvSpPr>
        <p:spPr>
          <a:xfrm>
            <a:off x="2788920" y="3017520"/>
            <a:ext cx="502920" cy="360"/>
          </a:xfrm>
          <a:prstGeom prst="line">
            <a:avLst/>
          </a:prstGeom>
          <a:ln w="19050">
            <a:solidFill>
              <a:srgbClr val="1a1a1a"/>
            </a:solidFill>
            <a:round/>
            <a:tailEnd len="med" type="triangle" w="med"/>
          </a:ln>
        </p:spPr>
        <p:style>
          <a:lnRef idx="0"/>
          <a:fillRef idx="0"/>
          <a:effectRef idx="0"/>
          <a:fontRef idx="minor"/>
        </p:style>
        <p:txBody>
          <a:bodyPr lIns="90000" rIns="90000" tIns="-44640" bIns="-44640" anchor="t" anchorCtr="1">
            <a:noAutofit/>
          </a:bodyPr>
          <a:p>
            <a:endParaRPr lang="fr-FR" sz="1800" b="0" u="none" strike="noStrike">
              <a:solidFill>
                <a:srgbClr val="000000"/>
              </a:solidFill>
              <a:effectLst/>
              <a:uFillTx/>
              <a:latin typeface="Arial"/>
            </a:endParaRPr>
          </a:p>
        </p:txBody>
      </p:sp>
      <p:sp>
        <p:nvSpPr>
          <p:cNvPr id="76" name="Text 7"/>
          <p:cNvSpPr/>
          <p:nvPr/>
        </p:nvSpPr>
        <p:spPr>
          <a:xfrm>
            <a:off x="2697480" y="2651760"/>
            <a:ext cx="7311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0" i="1" u="none" strike="noStrike">
                <a:solidFill>
                  <a:srgbClr val="6b6b6b"/>
                </a:solidFill>
                <a:effectLst/>
                <a:uFillTx/>
                <a:latin typeface="Calibri"/>
                <a:ea typeface="Calibri"/>
              </a:rPr>
              <a:t>JSON / HTTP</a:t>
            </a:r>
            <a:endParaRPr lang="fr-FR" sz="900" b="0" u="none" strike="noStrike">
              <a:solidFill>
                <a:srgbClr val="000000"/>
              </a:solidFill>
              <a:effectLst/>
              <a:uFillTx/>
              <a:latin typeface="Arial"/>
            </a:endParaRPr>
          </a:p>
        </p:txBody>
      </p:sp>
      <p:sp>
        <p:nvSpPr>
          <p:cNvPr id="77" name="Shape 8"/>
          <p:cNvSpPr/>
          <p:nvPr/>
        </p:nvSpPr>
        <p:spPr>
          <a:xfrm>
            <a:off x="3429000" y="1920240"/>
            <a:ext cx="5303160" cy="2194200"/>
          </a:xfrm>
          <a:prstGeom prst="rect">
            <a:avLst/>
          </a:prstGeom>
          <a:solidFill>
            <a:srgbClr val="1a1a1a"/>
          </a:solidFill>
          <a:ln w="12700">
            <a:solidFill>
              <a:srgbClr val="1a1a1a"/>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78" name="Text 9"/>
          <p:cNvSpPr/>
          <p:nvPr/>
        </p:nvSpPr>
        <p:spPr>
          <a:xfrm>
            <a:off x="3429000" y="2057400"/>
            <a:ext cx="530316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800" b="1" u="none" strike="noStrike">
                <a:solidFill>
                  <a:srgbClr val="ffffff"/>
                </a:solidFill>
                <a:effectLst/>
                <a:uFillTx/>
                <a:latin typeface="Georgia"/>
                <a:ea typeface="Georgia"/>
              </a:rPr>
              <a:t>app.py  ·  Flask</a:t>
            </a:r>
            <a:endParaRPr lang="fr-FR" sz="1800" b="0" u="none" strike="noStrike">
              <a:solidFill>
                <a:srgbClr val="000000"/>
              </a:solidFill>
              <a:effectLst/>
              <a:uFillTx/>
              <a:latin typeface="Arial"/>
            </a:endParaRPr>
          </a:p>
        </p:txBody>
      </p:sp>
      <p:sp>
        <p:nvSpPr>
          <p:cNvPr id="79" name="Text 10"/>
          <p:cNvSpPr/>
          <p:nvPr/>
        </p:nvSpPr>
        <p:spPr>
          <a:xfrm>
            <a:off x="3429000" y="2468880"/>
            <a:ext cx="53031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0" i="1" u="none" strike="noStrike">
                <a:solidFill>
                  <a:srgbClr val="c8c8c8"/>
                </a:solidFill>
                <a:effectLst/>
                <a:uFillTx/>
                <a:latin typeface="Calibri"/>
                <a:ea typeface="Calibri"/>
              </a:rPr>
              <a:t>routes  ·  retrieval  ·  prompts  ·  PDF parsing</a:t>
            </a:r>
            <a:endParaRPr lang="fr-FR" sz="1050" b="0" u="none" strike="noStrike">
              <a:solidFill>
                <a:srgbClr val="000000"/>
              </a:solidFill>
              <a:effectLst/>
              <a:uFillTx/>
              <a:latin typeface="Arial"/>
            </a:endParaRPr>
          </a:p>
        </p:txBody>
      </p:sp>
      <p:sp>
        <p:nvSpPr>
          <p:cNvPr id="80" name="Shape 11"/>
          <p:cNvSpPr/>
          <p:nvPr/>
        </p:nvSpPr>
        <p:spPr>
          <a:xfrm>
            <a:off x="3566160" y="2926080"/>
            <a:ext cx="1554120" cy="1051200"/>
          </a:xfrm>
          <a:prstGeom prst="rect">
            <a:avLst/>
          </a:prstGeom>
          <a:solidFill>
            <a:srgbClr val="2e2e2e"/>
          </a:solidFill>
          <a:ln w="12700">
            <a:solidFill>
              <a:srgbClr val="404040"/>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81" name="Text 12"/>
          <p:cNvSpPr/>
          <p:nvPr/>
        </p:nvSpPr>
        <p:spPr>
          <a:xfrm>
            <a:off x="3566160" y="2990160"/>
            <a:ext cx="155412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5eead4"/>
                </a:solidFill>
                <a:effectLst/>
                <a:uFillTx/>
                <a:latin typeface="Consolas"/>
                <a:ea typeface="Consolas"/>
              </a:rPr>
              <a:t>chunk_text</a:t>
            </a:r>
            <a:endParaRPr lang="fr-FR" sz="1000" b="0" u="none" strike="noStrike">
              <a:solidFill>
                <a:srgbClr val="000000"/>
              </a:solidFill>
              <a:effectLst/>
              <a:uFillTx/>
              <a:latin typeface="Arial"/>
            </a:endParaRPr>
          </a:p>
          <a:p>
            <a:pPr algn="ctr" defTabSz="914400">
              <a:lnSpc>
                <a:spcPct val="100000"/>
              </a:lnSpc>
              <a:tabLst>
                <a:tab algn="l" pos="0"/>
              </a:tabLst>
            </a:pPr>
            <a:r>
              <a:rPr lang="en-US" sz="1000" b="0" u="none" strike="noStrike">
                <a:solidFill>
                  <a:srgbClr val="5eead4"/>
                </a:solidFill>
                <a:effectLst/>
                <a:uFillTx/>
                <a:latin typeface="Consolas"/>
                <a:ea typeface="Consolas"/>
              </a:rPr>
              <a:t>_top_chunks</a:t>
            </a:r>
            <a:endParaRPr lang="fr-FR" sz="1000" b="0" u="none" strike="noStrike">
              <a:solidFill>
                <a:srgbClr val="000000"/>
              </a:solidFill>
              <a:effectLst/>
              <a:uFillTx/>
              <a:latin typeface="Arial"/>
            </a:endParaRPr>
          </a:p>
        </p:txBody>
      </p:sp>
      <p:sp>
        <p:nvSpPr>
          <p:cNvPr id="82" name="Text 13"/>
          <p:cNvSpPr/>
          <p:nvPr/>
        </p:nvSpPr>
        <p:spPr>
          <a:xfrm>
            <a:off x="3566160" y="3611880"/>
            <a:ext cx="15541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0" i="1" u="none" strike="noStrike">
                <a:solidFill>
                  <a:srgbClr val="9a9a9a"/>
                </a:solidFill>
                <a:effectLst/>
                <a:uFillTx/>
                <a:latin typeface="Calibri"/>
                <a:ea typeface="Calibri"/>
              </a:rPr>
              <a:t>RAG layer</a:t>
            </a:r>
            <a:endParaRPr lang="fr-FR" sz="900" b="0" u="none" strike="noStrike">
              <a:solidFill>
                <a:srgbClr val="000000"/>
              </a:solidFill>
              <a:effectLst/>
              <a:uFillTx/>
              <a:latin typeface="Arial"/>
            </a:endParaRPr>
          </a:p>
        </p:txBody>
      </p:sp>
      <p:sp>
        <p:nvSpPr>
          <p:cNvPr id="83" name="Shape 14"/>
          <p:cNvSpPr/>
          <p:nvPr/>
        </p:nvSpPr>
        <p:spPr>
          <a:xfrm>
            <a:off x="5239440" y="2926080"/>
            <a:ext cx="1554120" cy="1051200"/>
          </a:xfrm>
          <a:prstGeom prst="rect">
            <a:avLst/>
          </a:prstGeom>
          <a:solidFill>
            <a:srgbClr val="2e2e2e"/>
          </a:solidFill>
          <a:ln w="12700">
            <a:solidFill>
              <a:srgbClr val="404040"/>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84" name="Text 15"/>
          <p:cNvSpPr/>
          <p:nvPr/>
        </p:nvSpPr>
        <p:spPr>
          <a:xfrm>
            <a:off x="5239440" y="2990160"/>
            <a:ext cx="155412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5eead4"/>
                </a:solidFill>
                <a:effectLst/>
                <a:uFillTx/>
                <a:latin typeface="Consolas"/>
                <a:ea typeface="Consolas"/>
              </a:rPr>
              <a:t>call_ai</a:t>
            </a:r>
            <a:endParaRPr lang="fr-FR" sz="1000" b="0" u="none" strike="noStrike">
              <a:solidFill>
                <a:srgbClr val="000000"/>
              </a:solidFill>
              <a:effectLst/>
              <a:uFillTx/>
              <a:latin typeface="Arial"/>
            </a:endParaRPr>
          </a:p>
          <a:p>
            <a:pPr algn="ctr" defTabSz="914400">
              <a:lnSpc>
                <a:spcPct val="100000"/>
              </a:lnSpc>
              <a:tabLst>
                <a:tab algn="l" pos="0"/>
              </a:tabLst>
            </a:pPr>
            <a:r>
              <a:rPr lang="en-US" sz="1000" b="0" u="none" strike="noStrike">
                <a:solidFill>
                  <a:srgbClr val="5eead4"/>
                </a:solidFill>
                <a:effectLst/>
                <a:uFillTx/>
                <a:latin typeface="Consolas"/>
                <a:ea typeface="Consolas"/>
              </a:rPr>
              <a:t>generate_artifact</a:t>
            </a:r>
            <a:endParaRPr lang="fr-FR" sz="1000" b="0" u="none" strike="noStrike">
              <a:solidFill>
                <a:srgbClr val="000000"/>
              </a:solidFill>
              <a:effectLst/>
              <a:uFillTx/>
              <a:latin typeface="Arial"/>
            </a:endParaRPr>
          </a:p>
        </p:txBody>
      </p:sp>
      <p:sp>
        <p:nvSpPr>
          <p:cNvPr id="85" name="Text 16"/>
          <p:cNvSpPr/>
          <p:nvPr/>
        </p:nvSpPr>
        <p:spPr>
          <a:xfrm>
            <a:off x="5239440" y="3611880"/>
            <a:ext cx="15541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0" i="1" u="none" strike="noStrike">
                <a:solidFill>
                  <a:srgbClr val="9a9a9a"/>
                </a:solidFill>
                <a:effectLst/>
                <a:uFillTx/>
                <a:latin typeface="Calibri"/>
                <a:ea typeface="Calibri"/>
              </a:rPr>
              <a:t>AI layer</a:t>
            </a:r>
            <a:endParaRPr lang="fr-FR" sz="900" b="0" u="none" strike="noStrike">
              <a:solidFill>
                <a:srgbClr val="000000"/>
              </a:solidFill>
              <a:effectLst/>
              <a:uFillTx/>
              <a:latin typeface="Arial"/>
            </a:endParaRPr>
          </a:p>
        </p:txBody>
      </p:sp>
      <p:sp>
        <p:nvSpPr>
          <p:cNvPr id="86" name="Shape 17"/>
          <p:cNvSpPr/>
          <p:nvPr/>
        </p:nvSpPr>
        <p:spPr>
          <a:xfrm>
            <a:off x="6912720" y="2926080"/>
            <a:ext cx="1554120" cy="1051200"/>
          </a:xfrm>
          <a:prstGeom prst="rect">
            <a:avLst/>
          </a:prstGeom>
          <a:solidFill>
            <a:srgbClr val="2e2e2e"/>
          </a:solidFill>
          <a:ln w="12700">
            <a:solidFill>
              <a:srgbClr val="404040"/>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87" name="Text 18"/>
          <p:cNvSpPr/>
          <p:nvPr/>
        </p:nvSpPr>
        <p:spPr>
          <a:xfrm>
            <a:off x="6912720" y="2990160"/>
            <a:ext cx="1554120" cy="5940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5eead4"/>
                </a:solidFill>
                <a:effectLst/>
                <a:uFillTx/>
                <a:latin typeface="Consolas"/>
                <a:ea typeface="Consolas"/>
              </a:rPr>
              <a:t>DB helpers</a:t>
            </a:r>
            <a:endParaRPr lang="fr-FR" sz="1000" b="0" u="none" strike="noStrike">
              <a:solidFill>
                <a:srgbClr val="000000"/>
              </a:solidFill>
              <a:effectLst/>
              <a:uFillTx/>
              <a:latin typeface="Arial"/>
            </a:endParaRPr>
          </a:p>
          <a:p>
            <a:pPr algn="ctr" defTabSz="914400">
              <a:lnSpc>
                <a:spcPct val="100000"/>
              </a:lnSpc>
              <a:tabLst>
                <a:tab algn="l" pos="0"/>
              </a:tabLst>
            </a:pPr>
            <a:r>
              <a:rPr lang="en-US" sz="1000" b="0" u="none" strike="noStrike">
                <a:solidFill>
                  <a:srgbClr val="5eead4"/>
                </a:solidFill>
                <a:effectLst/>
                <a:uFillTx/>
                <a:latin typeface="Consolas"/>
                <a:ea typeface="Consolas"/>
              </a:rPr>
              <a:t>session state</a:t>
            </a:r>
            <a:endParaRPr lang="fr-FR" sz="1000" b="0" u="none" strike="noStrike">
              <a:solidFill>
                <a:srgbClr val="000000"/>
              </a:solidFill>
              <a:effectLst/>
              <a:uFillTx/>
              <a:latin typeface="Arial"/>
            </a:endParaRPr>
          </a:p>
        </p:txBody>
      </p:sp>
      <p:sp>
        <p:nvSpPr>
          <p:cNvPr id="88" name="Text 19"/>
          <p:cNvSpPr/>
          <p:nvPr/>
        </p:nvSpPr>
        <p:spPr>
          <a:xfrm>
            <a:off x="6912720" y="3611880"/>
            <a:ext cx="155412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0" i="1" u="none" strike="noStrike">
                <a:solidFill>
                  <a:srgbClr val="9a9a9a"/>
                </a:solidFill>
                <a:effectLst/>
                <a:uFillTx/>
                <a:latin typeface="Calibri"/>
                <a:ea typeface="Calibri"/>
              </a:rPr>
              <a:t>Persistence</a:t>
            </a:r>
            <a:endParaRPr lang="fr-FR" sz="900" b="0" u="none" strike="noStrike">
              <a:solidFill>
                <a:srgbClr val="000000"/>
              </a:solidFill>
              <a:effectLst/>
              <a:uFillTx/>
              <a:latin typeface="Arial"/>
            </a:endParaRPr>
          </a:p>
        </p:txBody>
      </p:sp>
      <p:sp>
        <p:nvSpPr>
          <p:cNvPr id="89" name="Shape 20"/>
          <p:cNvSpPr/>
          <p:nvPr/>
        </p:nvSpPr>
        <p:spPr>
          <a:xfrm>
            <a:off x="8778240" y="3017520"/>
            <a:ext cx="502920" cy="360"/>
          </a:xfrm>
          <a:prstGeom prst="line">
            <a:avLst/>
          </a:prstGeom>
          <a:ln w="19050">
            <a:solidFill>
              <a:srgbClr val="1a1a1a"/>
            </a:solidFill>
            <a:round/>
            <a:tailEnd len="med" type="triangle" w="med"/>
          </a:ln>
        </p:spPr>
        <p:style>
          <a:lnRef idx="0"/>
          <a:fillRef idx="0"/>
          <a:effectRef idx="0"/>
          <a:fontRef idx="minor"/>
        </p:style>
        <p:txBody>
          <a:bodyPr lIns="90000" rIns="90000" tIns="-44640" bIns="-44640" anchor="t" anchorCtr="1">
            <a:noAutofit/>
          </a:bodyPr>
          <a:p>
            <a:endParaRPr lang="fr-FR" sz="1800" b="0" u="none" strike="noStrike">
              <a:solidFill>
                <a:srgbClr val="000000"/>
              </a:solidFill>
              <a:effectLst/>
              <a:uFillTx/>
              <a:latin typeface="Arial"/>
            </a:endParaRPr>
          </a:p>
        </p:txBody>
      </p:sp>
      <p:sp>
        <p:nvSpPr>
          <p:cNvPr id="90" name="Text 21"/>
          <p:cNvSpPr/>
          <p:nvPr/>
        </p:nvSpPr>
        <p:spPr>
          <a:xfrm>
            <a:off x="8686800" y="2651760"/>
            <a:ext cx="7311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900" b="0" i="1" u="none" strike="noStrike">
                <a:solidFill>
                  <a:srgbClr val="6b6b6b"/>
                </a:solidFill>
                <a:effectLst/>
                <a:uFillTx/>
                <a:latin typeface="Calibri"/>
                <a:ea typeface="Calibri"/>
              </a:rPr>
              <a:t>SQL</a:t>
            </a:r>
            <a:endParaRPr lang="fr-FR" sz="900" b="0" u="none" strike="noStrike">
              <a:solidFill>
                <a:srgbClr val="000000"/>
              </a:solidFill>
              <a:effectLst/>
              <a:uFillTx/>
              <a:latin typeface="Arial"/>
            </a:endParaRPr>
          </a:p>
        </p:txBody>
      </p:sp>
      <p:sp>
        <p:nvSpPr>
          <p:cNvPr id="91" name="Shape 22"/>
          <p:cNvSpPr/>
          <p:nvPr/>
        </p:nvSpPr>
        <p:spPr>
          <a:xfrm>
            <a:off x="9418320" y="2331720"/>
            <a:ext cx="2194200" cy="13712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92" name="Text 23"/>
          <p:cNvSpPr/>
          <p:nvPr/>
        </p:nvSpPr>
        <p:spPr>
          <a:xfrm>
            <a:off x="9418320" y="2377440"/>
            <a:ext cx="219420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600" b="1" u="none" strike="noStrike">
                <a:solidFill>
                  <a:srgbClr val="1a1a1a"/>
                </a:solidFill>
                <a:effectLst/>
                <a:uFillTx/>
                <a:latin typeface="Georgia"/>
                <a:ea typeface="Georgia"/>
              </a:rPr>
              <a:t>SQLite</a:t>
            </a:r>
            <a:endParaRPr lang="fr-FR" sz="1600" b="0" u="none" strike="noStrike">
              <a:solidFill>
                <a:srgbClr val="000000"/>
              </a:solidFill>
              <a:effectLst/>
              <a:uFillTx/>
              <a:latin typeface="Arial"/>
            </a:endParaRPr>
          </a:p>
        </p:txBody>
      </p:sp>
      <p:sp>
        <p:nvSpPr>
          <p:cNvPr id="93" name="Text 24"/>
          <p:cNvSpPr/>
          <p:nvPr/>
        </p:nvSpPr>
        <p:spPr>
          <a:xfrm>
            <a:off x="9418320" y="2743200"/>
            <a:ext cx="2194200" cy="91404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50" b="0" u="none" strike="noStrike">
                <a:solidFill>
                  <a:srgbClr val="6b6b6b"/>
                </a:solidFill>
                <a:effectLst/>
                <a:uFillTx/>
                <a:latin typeface="Calibri"/>
                <a:ea typeface="Calibri"/>
              </a:rPr>
              <a:t>documents · artifacts · usage</a:t>
            </a:r>
            <a:endParaRPr lang="fr-FR" sz="1050" b="0" u="none" strike="noStrike">
              <a:solidFill>
                <a:srgbClr val="000000"/>
              </a:solidFill>
              <a:effectLst/>
              <a:uFillTx/>
              <a:latin typeface="Arial"/>
            </a:endParaRPr>
          </a:p>
        </p:txBody>
      </p:sp>
      <p:sp>
        <p:nvSpPr>
          <p:cNvPr id="94" name="Shape 25"/>
          <p:cNvSpPr/>
          <p:nvPr/>
        </p:nvSpPr>
        <p:spPr>
          <a:xfrm>
            <a:off x="6080760" y="4160520"/>
            <a:ext cx="360" cy="548640"/>
          </a:xfrm>
          <a:prstGeom prst="line">
            <a:avLst/>
          </a:prstGeom>
          <a:ln w="19050">
            <a:solidFill>
              <a:srgbClr val="1a1a1a"/>
            </a:solidFill>
            <a:round/>
            <a:tailEnd len="med" type="triangle" w="med"/>
          </a:ln>
        </p:spPr>
        <p:style>
          <a:lnRef idx="0"/>
          <a:fillRef idx="0"/>
          <a:effectRef idx="0"/>
          <a:fontRef idx="minor"/>
        </p:style>
        <p:txBody>
          <a:bodyPr lIns="90000" rIns="90000" tIns="45000" bIns="45000" anchor="t" anchorCtr="1">
            <a:noAutofit/>
          </a:bodyPr>
          <a:p>
            <a:endParaRPr lang="fr-FR" sz="1800" b="0" u="none" strike="noStrike">
              <a:solidFill>
                <a:srgbClr val="000000"/>
              </a:solidFill>
              <a:effectLst/>
              <a:uFillTx/>
              <a:latin typeface="Arial"/>
            </a:endParaRPr>
          </a:p>
        </p:txBody>
      </p:sp>
      <p:sp>
        <p:nvSpPr>
          <p:cNvPr id="95" name="Shape 26"/>
          <p:cNvSpPr/>
          <p:nvPr/>
        </p:nvSpPr>
        <p:spPr>
          <a:xfrm>
            <a:off x="4937760" y="4754880"/>
            <a:ext cx="2331360" cy="822600"/>
          </a:xfrm>
          <a:prstGeom prst="rect">
            <a:avLst/>
          </a:prstGeom>
          <a:solidFill>
            <a:srgbClr val="fafafa"/>
          </a:solidFill>
          <a:ln w="1905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96" name="Text 27"/>
          <p:cNvSpPr/>
          <p:nvPr/>
        </p:nvSpPr>
        <p:spPr>
          <a:xfrm>
            <a:off x="4937760" y="4800600"/>
            <a:ext cx="2331360" cy="31968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400" b="1" u="none" strike="noStrike">
                <a:solidFill>
                  <a:srgbClr val="1a1a1a"/>
                </a:solidFill>
                <a:effectLst/>
                <a:uFillTx/>
                <a:latin typeface="Georgia"/>
                <a:ea typeface="Georgia"/>
              </a:rPr>
              <a:t>Groq API</a:t>
            </a:r>
            <a:endParaRPr lang="fr-FR" sz="1400" b="0" u="none" strike="noStrike">
              <a:solidFill>
                <a:srgbClr val="000000"/>
              </a:solidFill>
              <a:effectLst/>
              <a:uFillTx/>
              <a:latin typeface="Arial"/>
            </a:endParaRPr>
          </a:p>
        </p:txBody>
      </p:sp>
      <p:sp>
        <p:nvSpPr>
          <p:cNvPr id="97" name="Text 28"/>
          <p:cNvSpPr/>
          <p:nvPr/>
        </p:nvSpPr>
        <p:spPr>
          <a:xfrm>
            <a:off x="4937760" y="5120640"/>
            <a:ext cx="2331360" cy="273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000" b="0" u="none" strike="noStrike">
                <a:solidFill>
                  <a:srgbClr val="0d9488"/>
                </a:solidFill>
                <a:effectLst/>
                <a:uFillTx/>
                <a:latin typeface="Consolas"/>
                <a:ea typeface="Consolas"/>
              </a:rPr>
              <a:t>llama-3.3-70b-versatile</a:t>
            </a:r>
            <a:endParaRPr lang="fr-FR" sz="1000" b="0" u="none" strike="noStrike">
              <a:solidFill>
                <a:srgbClr val="000000"/>
              </a:solidFill>
              <a:effectLst/>
              <a:uFillTx/>
              <a:latin typeface="Arial"/>
            </a:endParaRPr>
          </a:p>
        </p:txBody>
      </p:sp>
      <p:sp>
        <p:nvSpPr>
          <p:cNvPr id="98" name="Text 29"/>
          <p:cNvSpPr/>
          <p:nvPr/>
        </p:nvSpPr>
        <p:spPr>
          <a:xfrm>
            <a:off x="548640" y="5989320"/>
            <a:ext cx="11063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0" i="1" u="none" strike="noStrike">
                <a:solidFill>
                  <a:srgbClr val="6b6b6b"/>
                </a:solidFill>
                <a:effectLst/>
                <a:uFillTx/>
                <a:latin typeface="Calibri"/>
                <a:ea typeface="Calibri"/>
              </a:rPr>
              <a:t>One Python file, one HTML file, one SQLite file. No build step. No frameworks. The whole system fits in a head.</a:t>
            </a:r>
            <a:endParaRPr lang="fr-F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05  ·  ENGINEERING DECISIONS</a:t>
            </a:r>
            <a:endParaRPr lang="fr-FR" sz="1100" b="0" u="none" strike="noStrike">
              <a:solidFill>
                <a:srgbClr val="000000"/>
              </a:solidFill>
              <a:effectLst/>
              <a:uFillTx/>
              <a:latin typeface="Arial"/>
            </a:endParaRPr>
          </a:p>
        </p:txBody>
      </p:sp>
      <p:sp>
        <p:nvSpPr>
          <p:cNvPr id="100"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Trade-offs we made on purpose</a:t>
            </a:r>
            <a:endParaRPr lang="fr-FR" sz="3600" b="0" u="none" strike="noStrike">
              <a:solidFill>
                <a:srgbClr val="000000"/>
              </a:solidFill>
              <a:effectLst/>
              <a:uFillTx/>
              <a:latin typeface="Arial"/>
            </a:endParaRPr>
          </a:p>
        </p:txBody>
      </p:sp>
      <p:sp>
        <p:nvSpPr>
          <p:cNvPr id="101"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graphicFrame>
        <p:nvGraphicFramePr>
          <p:cNvPr id="102" name="Table 0"/>
          <p:cNvGraphicFramePr/>
          <p:nvPr/>
        </p:nvGraphicFramePr>
        <p:xfrm>
          <a:off x="548640" y="1737360"/>
          <a:ext cx="11063880" cy="4114800"/>
        </p:xfrm>
        <a:graphic>
          <a:graphicData uri="http://schemas.openxmlformats.org/drawingml/2006/table">
            <a:tbl>
              <a:tblPr/>
              <a:tblGrid>
                <a:gridCol w="1737360"/>
                <a:gridCol w="3200400"/>
                <a:gridCol w="2560320"/>
                <a:gridCol w="3566160"/>
              </a:tblGrid>
              <a:tr h="685800">
                <a:tc>
                  <a:txBody>
                    <a:bodyPr anchor="ctr">
                      <a:noAutofit/>
                    </a:bodyPr>
                    <a:p>
                      <a:pPr defTabSz="914400">
                        <a:lnSpc>
                          <a:spcPct val="100000"/>
                        </a:lnSpc>
                        <a:tabLst>
                          <a:tab algn="l" pos="0"/>
                        </a:tabLst>
                      </a:pPr>
                      <a:r>
                        <a:rPr lang="en-US" sz="1100" b="1" u="none" spc="300" strike="noStrike">
                          <a:solidFill>
                            <a:srgbClr val="ffffff"/>
                          </a:solidFill>
                          <a:effectLst/>
                          <a:uFillTx/>
                          <a:latin typeface="Calibri"/>
                          <a:ea typeface="Calibri"/>
                        </a:rPr>
                        <a:t>AREA</a:t>
                      </a:r>
                      <a:endParaRPr lang="fr-FR" sz="1100" b="0" u="none" strike="noStrike">
                        <a:solidFill>
                          <a:srgbClr val="ffffff"/>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solidFill>
                      <a:srgbClr val="1a1a1a"/>
                    </a:solidFill>
                  </a:tcPr>
                </a:tc>
                <a:tc>
                  <a:txBody>
                    <a:bodyPr anchor="ctr">
                      <a:noAutofit/>
                    </a:bodyPr>
                    <a:p>
                      <a:pPr defTabSz="914400">
                        <a:lnSpc>
                          <a:spcPct val="100000"/>
                        </a:lnSpc>
                        <a:tabLst>
                          <a:tab algn="l" pos="0"/>
                        </a:tabLst>
                      </a:pPr>
                      <a:r>
                        <a:rPr lang="en-US" sz="1100" b="1" u="none" spc="300" strike="noStrike">
                          <a:solidFill>
                            <a:srgbClr val="ffffff"/>
                          </a:solidFill>
                          <a:effectLst/>
                          <a:uFillTx/>
                          <a:latin typeface="Calibri"/>
                          <a:ea typeface="Calibri"/>
                        </a:rPr>
                        <a:t>ALTERNATIVES</a:t>
                      </a:r>
                      <a:endParaRPr lang="fr-FR" sz="1100" b="0" u="none" strike="noStrike">
                        <a:solidFill>
                          <a:srgbClr val="ffffff"/>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solidFill>
                      <a:srgbClr val="1a1a1a"/>
                    </a:solidFill>
                  </a:tcPr>
                </a:tc>
                <a:tc>
                  <a:txBody>
                    <a:bodyPr anchor="ctr">
                      <a:noAutofit/>
                    </a:bodyPr>
                    <a:p>
                      <a:pPr defTabSz="914400">
                        <a:lnSpc>
                          <a:spcPct val="100000"/>
                        </a:lnSpc>
                        <a:tabLst>
                          <a:tab algn="l" pos="0"/>
                        </a:tabLst>
                      </a:pPr>
                      <a:r>
                        <a:rPr lang="en-US" sz="1100" b="1" u="none" spc="300" strike="noStrike">
                          <a:solidFill>
                            <a:srgbClr val="ffffff"/>
                          </a:solidFill>
                          <a:effectLst/>
                          <a:uFillTx/>
                          <a:latin typeface="Calibri"/>
                          <a:ea typeface="Calibri"/>
                        </a:rPr>
                        <a:t>CHOSEN</a:t>
                      </a:r>
                      <a:endParaRPr lang="fr-FR" sz="1100" b="0" u="none" strike="noStrike">
                        <a:solidFill>
                          <a:srgbClr val="ffffff"/>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solidFill>
                      <a:srgbClr val="1a1a1a"/>
                    </a:solidFill>
                  </a:tcPr>
                </a:tc>
                <a:tc>
                  <a:txBody>
                    <a:bodyPr anchor="ctr">
                      <a:noAutofit/>
                    </a:bodyPr>
                    <a:p>
                      <a:pPr defTabSz="914400">
                        <a:lnSpc>
                          <a:spcPct val="100000"/>
                        </a:lnSpc>
                        <a:tabLst>
                          <a:tab algn="l" pos="0"/>
                        </a:tabLst>
                      </a:pPr>
                      <a:r>
                        <a:rPr lang="en-US" sz="1100" b="1" u="none" spc="300" strike="noStrike">
                          <a:solidFill>
                            <a:srgbClr val="ffffff"/>
                          </a:solidFill>
                          <a:effectLst/>
                          <a:uFillTx/>
                          <a:latin typeface="Calibri"/>
                          <a:ea typeface="Calibri"/>
                        </a:rPr>
                        <a:t>WHY</a:t>
                      </a:r>
                      <a:endParaRPr lang="fr-FR" sz="1100" b="0" u="none" strike="noStrike">
                        <a:solidFill>
                          <a:srgbClr val="ffffff"/>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solidFill>
                      <a:srgbClr val="1a1a1a"/>
                    </a:solidFill>
                  </a:tcPr>
                </a:tc>
              </a:tr>
              <a:tr h="685800">
                <a:tc>
                  <a:txBody>
                    <a:bodyPr anchor="ctr">
                      <a:noAutofit/>
                    </a:bodyPr>
                    <a:p>
                      <a:pPr defTabSz="914400">
                        <a:lnSpc>
                          <a:spcPct val="100000"/>
                        </a:lnSpc>
                        <a:tabLst>
                          <a:tab algn="l" pos="0"/>
                        </a:tabLst>
                      </a:pPr>
                      <a:r>
                        <a:rPr lang="en-US" sz="1200" b="1" u="none" strike="noStrike">
                          <a:solidFill>
                            <a:srgbClr val="1a1a1a"/>
                          </a:solidFill>
                          <a:effectLst/>
                          <a:uFillTx/>
                          <a:latin typeface="Calibri"/>
                          <a:ea typeface="Calibri"/>
                        </a:rPr>
                        <a:t>LLM provider</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i="1" u="none" strike="noStrike">
                          <a:solidFill>
                            <a:srgbClr val="6b6b6b"/>
                          </a:solidFill>
                          <a:effectLst/>
                          <a:uFillTx/>
                          <a:latin typeface="Calibri"/>
                          <a:ea typeface="Calibri"/>
                        </a:rPr>
                        <a:t>Claude, Gemini, OpenAI, Groq</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200" b="1" u="none" strike="noStrike">
                          <a:solidFill>
                            <a:srgbClr val="0d9488"/>
                          </a:solidFill>
                          <a:effectLst/>
                          <a:uFillTx/>
                          <a:latin typeface="Calibri"/>
                          <a:ea typeface="Calibri"/>
                        </a:rPr>
                        <a:t>Groq  ·  llama-3.3-70b</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The only provider with a free tier that does not require a credit card.</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r>
              <a:tr h="685800">
                <a:tc>
                  <a:txBody>
                    <a:bodyPr anchor="ctr">
                      <a:noAutofit/>
                    </a:bodyPr>
                    <a:p>
                      <a:pPr defTabSz="914400">
                        <a:lnSpc>
                          <a:spcPct val="100000"/>
                        </a:lnSpc>
                        <a:tabLst>
                          <a:tab algn="l" pos="0"/>
                        </a:tabLst>
                      </a:pPr>
                      <a:r>
                        <a:rPr lang="en-US" sz="1200" b="1" u="none" strike="noStrike">
                          <a:solidFill>
                            <a:srgbClr val="1a1a1a"/>
                          </a:solidFill>
                          <a:effectLst/>
                          <a:uFillTx/>
                          <a:latin typeface="Calibri"/>
                          <a:ea typeface="Calibri"/>
                        </a:rPr>
                        <a:t>Retrieval</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i="1" u="none" strike="noStrike">
                          <a:solidFill>
                            <a:srgbClr val="6b6b6b"/>
                          </a:solidFill>
                          <a:effectLst/>
                          <a:uFillTx/>
                          <a:latin typeface="Calibri"/>
                          <a:ea typeface="Calibri"/>
                        </a:rPr>
                        <a:t>Vector embeddings, BM25</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200" b="1" u="none" strike="noStrike">
                          <a:solidFill>
                            <a:srgbClr val="0d9488"/>
                          </a:solidFill>
                          <a:effectLst/>
                          <a:uFillTx/>
                          <a:latin typeface="Calibri"/>
                          <a:ea typeface="Calibri"/>
                        </a:rPr>
                        <a:t>Word-overlap (two variants)</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No external service or model download. Runs entirely inside the Flask process.</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r>
              <a:tr h="685800">
                <a:tc>
                  <a:txBody>
                    <a:bodyPr anchor="ctr">
                      <a:noAutofit/>
                    </a:bodyPr>
                    <a:p>
                      <a:pPr defTabSz="914400">
                        <a:lnSpc>
                          <a:spcPct val="100000"/>
                        </a:lnSpc>
                        <a:tabLst>
                          <a:tab algn="l" pos="0"/>
                        </a:tabLst>
                      </a:pPr>
                      <a:r>
                        <a:rPr lang="en-US" sz="1200" b="1" u="none" strike="noStrike">
                          <a:solidFill>
                            <a:srgbClr val="1a1a1a"/>
                          </a:solidFill>
                          <a:effectLst/>
                          <a:uFillTx/>
                          <a:latin typeface="Calibri"/>
                          <a:ea typeface="Calibri"/>
                        </a:rPr>
                        <a:t>Database</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i="1" u="none" strike="noStrike">
                          <a:solidFill>
                            <a:srgbClr val="6b6b6b"/>
                          </a:solidFill>
                          <a:effectLst/>
                          <a:uFillTx/>
                          <a:latin typeface="Calibri"/>
                          <a:ea typeface="Calibri"/>
                        </a:rPr>
                        <a:t>Postgres, MongoDB, JSON files</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200" b="1" u="none" strike="noStrike">
                          <a:solidFill>
                            <a:srgbClr val="0d9488"/>
                          </a:solidFill>
                          <a:effectLst/>
                          <a:uFillTx/>
                          <a:latin typeface="Calibri"/>
                          <a:ea typeface="Calibri"/>
                        </a:rPr>
                        <a:t>SQLite  ·  3 tables</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File-based and bundled with Python. No separate database process to run.</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r>
              <a:tr h="685800">
                <a:tc>
                  <a:txBody>
                    <a:bodyPr anchor="ctr">
                      <a:noAutofit/>
                    </a:bodyPr>
                    <a:p>
                      <a:pPr defTabSz="914400">
                        <a:lnSpc>
                          <a:spcPct val="100000"/>
                        </a:lnSpc>
                        <a:tabLst>
                          <a:tab algn="l" pos="0"/>
                        </a:tabLst>
                      </a:pPr>
                      <a:r>
                        <a:rPr lang="en-US" sz="1200" b="1" u="none" strike="noStrike">
                          <a:solidFill>
                            <a:srgbClr val="1a1a1a"/>
                          </a:solidFill>
                          <a:effectLst/>
                          <a:uFillTx/>
                          <a:latin typeface="Calibri"/>
                          <a:ea typeface="Calibri"/>
                        </a:rPr>
                        <a:t>Frontend stack</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i="1" u="none" strike="noStrike">
                          <a:solidFill>
                            <a:srgbClr val="6b6b6b"/>
                          </a:solidFill>
                          <a:effectLst/>
                          <a:uFillTx/>
                          <a:latin typeface="Calibri"/>
                          <a:ea typeface="Calibri"/>
                        </a:rPr>
                        <a:t>React, HTMX, Jinja2 templates</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200" b="1" u="none" strike="noStrike">
                          <a:solidFill>
                            <a:srgbClr val="0d9488"/>
                          </a:solidFill>
                          <a:effectLst/>
                          <a:uFillTx/>
                          <a:latin typeface="Calibri"/>
                          <a:ea typeface="Calibri"/>
                        </a:rPr>
                        <a:t>Vanilla JS  ·  one HTML file</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No build step, no Node.js dependency. The grader runs one Python command.</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r>
              <a:tr h="685800">
                <a:tc>
                  <a:txBody>
                    <a:bodyPr anchor="ctr">
                      <a:noAutofit/>
                    </a:bodyPr>
                    <a:p>
                      <a:pPr defTabSz="914400">
                        <a:lnSpc>
                          <a:spcPct val="100000"/>
                        </a:lnSpc>
                        <a:tabLst>
                          <a:tab algn="l" pos="0"/>
                        </a:tabLst>
                      </a:pPr>
                      <a:r>
                        <a:rPr lang="en-US" sz="1200" b="1" u="none" strike="noStrike">
                          <a:solidFill>
                            <a:srgbClr val="1a1a1a"/>
                          </a:solidFill>
                          <a:effectLst/>
                          <a:uFillTx/>
                          <a:latin typeface="Calibri"/>
                          <a:ea typeface="Calibri"/>
                        </a:rPr>
                        <a:t>UI settings</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i="1" u="none" strike="noStrike">
                          <a:solidFill>
                            <a:srgbClr val="6b6b6b"/>
                          </a:solidFill>
                          <a:effectLst/>
                          <a:uFillTx/>
                          <a:latin typeface="Calibri"/>
                          <a:ea typeface="Calibri"/>
                        </a:rPr>
                        <a:t>Dedicated settings table</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200" b="1" u="none" strike="noStrike">
                          <a:solidFill>
                            <a:srgbClr val="0d9488"/>
                          </a:solidFill>
                          <a:effectLst/>
                          <a:uFillTx/>
                          <a:latin typeface="Calibri"/>
                          <a:ea typeface="Calibri"/>
                        </a:rPr>
                        <a:t>Flask session cookie</a:t>
                      </a:r>
                      <a:endParaRPr lang="fr-FR" sz="12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c>
                  <a:txBody>
                    <a:bodyPr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Settings are per-browser preferences, not corpus data. A cookie is the right scope.</a:t>
                      </a:r>
                      <a:endParaRPr lang="fr-FR" sz="1100" b="0" u="none" strike="noStrike">
                        <a:solidFill>
                          <a:srgbClr val="000000"/>
                        </a:solidFill>
                        <a:effectLst/>
                        <a:uFillTx/>
                        <a:latin typeface="Arial"/>
                      </a:endParaRPr>
                    </a:p>
                  </a:txBody>
                  <a:tcPr anchor="ctr" marL="91440" marR="91440" marT="45720" marB="45720">
                    <a:lnL w="6480">
                      <a:solidFill>
                        <a:srgbClr val="e5e5e5"/>
                      </a:solidFill>
                      <a:prstDash val="solid"/>
                    </a:lnL>
                    <a:lnR w="6480">
                      <a:solidFill>
                        <a:srgbClr val="e5e5e5"/>
                      </a:solidFill>
                      <a:prstDash val="solid"/>
                    </a:lnR>
                    <a:lnT w="6480">
                      <a:solidFill>
                        <a:srgbClr val="e5e5e5"/>
                      </a:solidFill>
                      <a:prstDash val="solid"/>
                    </a:lnT>
                    <a:lnB w="6480">
                      <a:solidFill>
                        <a:srgbClr val="e5e5e5"/>
                      </a:solid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3"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06  ·  ENGINEERING CHALLENGE A</a:t>
            </a:r>
            <a:endParaRPr lang="fr-FR" sz="1100" b="0" u="none" strike="noStrike">
              <a:solidFill>
                <a:srgbClr val="000000"/>
              </a:solidFill>
              <a:effectLst/>
              <a:uFillTx/>
              <a:latin typeface="Arial"/>
            </a:endParaRPr>
          </a:p>
        </p:txBody>
      </p:sp>
      <p:sp>
        <p:nvSpPr>
          <p:cNvPr id="104"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Two retrieval strategies, head to head</a:t>
            </a:r>
            <a:endParaRPr lang="fr-FR" sz="3600" b="0" u="none" strike="noStrike">
              <a:solidFill>
                <a:srgbClr val="000000"/>
              </a:solidFill>
              <a:effectLst/>
              <a:uFillTx/>
              <a:latin typeface="Arial"/>
            </a:endParaRPr>
          </a:p>
        </p:txBody>
      </p:sp>
      <p:sp>
        <p:nvSpPr>
          <p:cNvPr id="105"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106" name="Shape 3"/>
          <p:cNvSpPr/>
          <p:nvPr/>
        </p:nvSpPr>
        <p:spPr>
          <a:xfrm>
            <a:off x="548640" y="1783080"/>
            <a:ext cx="5440320" cy="40230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107" name="Shape 4"/>
          <p:cNvSpPr/>
          <p:nvPr/>
        </p:nvSpPr>
        <p:spPr>
          <a:xfrm>
            <a:off x="548640" y="1783080"/>
            <a:ext cx="72720" cy="402300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108" name="Image 0" descr="preencoded.png"/>
          <p:cNvPicPr/>
          <p:nvPr/>
        </p:nvPicPr>
        <p:blipFill>
          <a:blip r:embed="rId1"/>
          <a:stretch/>
        </p:blipFill>
        <p:spPr>
          <a:xfrm>
            <a:off x="777240" y="1965960"/>
            <a:ext cx="365400" cy="365400"/>
          </a:xfrm>
          <a:prstGeom prst="rect">
            <a:avLst/>
          </a:prstGeom>
          <a:noFill/>
          <a:ln w="0">
            <a:noFill/>
          </a:ln>
        </p:spPr>
      </p:pic>
      <p:sp>
        <p:nvSpPr>
          <p:cNvPr id="109" name="Text 5"/>
          <p:cNvSpPr/>
          <p:nvPr/>
        </p:nvSpPr>
        <p:spPr>
          <a:xfrm>
            <a:off x="1234440" y="1938600"/>
            <a:ext cx="4571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1a1a1a"/>
                </a:solidFill>
                <a:effectLst/>
                <a:uFillTx/>
                <a:latin typeface="Georgia"/>
                <a:ea typeface="Georgia"/>
              </a:rPr>
              <a:t>Keyword frequency</a:t>
            </a:r>
            <a:endParaRPr lang="fr-FR" sz="2000" b="0" u="none" strike="noStrike">
              <a:solidFill>
                <a:srgbClr val="000000"/>
              </a:solidFill>
              <a:effectLst/>
              <a:uFillTx/>
              <a:latin typeface="Arial"/>
            </a:endParaRPr>
          </a:p>
        </p:txBody>
      </p:sp>
      <p:sp>
        <p:nvSpPr>
          <p:cNvPr id="110" name="Text 6"/>
          <p:cNvSpPr/>
          <p:nvPr/>
        </p:nvSpPr>
        <p:spPr>
          <a:xfrm>
            <a:off x="777240" y="2377440"/>
            <a:ext cx="5028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i="1" u="none" spc="300" strike="noStrike">
                <a:solidFill>
                  <a:srgbClr val="0d9488"/>
                </a:solidFill>
                <a:effectLst/>
                <a:uFillTx/>
                <a:latin typeface="Calibri"/>
                <a:ea typeface="Calibri"/>
              </a:rPr>
              <a:t>default</a:t>
            </a:r>
            <a:endParaRPr lang="fr-FR" sz="1000" b="0" u="none" strike="noStrike">
              <a:solidFill>
                <a:srgbClr val="000000"/>
              </a:solidFill>
              <a:effectLst/>
              <a:uFillTx/>
              <a:latin typeface="Arial"/>
            </a:endParaRPr>
          </a:p>
        </p:txBody>
      </p:sp>
      <p:sp>
        <p:nvSpPr>
          <p:cNvPr id="111" name="Text 7"/>
          <p:cNvSpPr/>
          <p:nvPr/>
        </p:nvSpPr>
        <p:spPr>
          <a:xfrm>
            <a:off x="777240" y="2743200"/>
            <a:ext cx="5028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00" b="0" u="none" strike="noStrike">
                <a:solidFill>
                  <a:srgbClr val="2b2b2b"/>
                </a:solidFill>
                <a:effectLst/>
                <a:uFillTx/>
                <a:latin typeface="Calibri"/>
                <a:ea typeface="Calibri"/>
              </a:rPr>
              <a:t>Score = total query-word occurrences inside the chunk (repetitions count).</a:t>
            </a:r>
            <a:endParaRPr lang="fr-FR" sz="1300" b="0" u="none" strike="noStrike">
              <a:solidFill>
                <a:srgbClr val="000000"/>
              </a:solidFill>
              <a:effectLst/>
              <a:uFillTx/>
              <a:latin typeface="Arial"/>
            </a:endParaRPr>
          </a:p>
        </p:txBody>
      </p:sp>
      <p:sp>
        <p:nvSpPr>
          <p:cNvPr id="112" name="Text 8"/>
          <p:cNvSpPr/>
          <p:nvPr/>
        </p:nvSpPr>
        <p:spPr>
          <a:xfrm>
            <a:off x="777240" y="3474720"/>
            <a:ext cx="5028840" cy="1279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u="none" strike="noStrike">
                <a:solidFill>
                  <a:srgbClr val="6b6b6b"/>
                </a:solidFill>
                <a:effectLst/>
                <a:uFillTx/>
                <a:latin typeface="Calibri"/>
                <a:ea typeface="Calibri"/>
              </a:rPr>
              <a:t>Wins on  </a:t>
            </a:r>
            <a:r>
              <a:rPr lang="en-US" sz="1200" b="1" u="none" strike="noStrike">
                <a:solidFill>
                  <a:srgbClr val="1a1a1a"/>
                </a:solidFill>
                <a:effectLst/>
                <a:uFillTx/>
                <a:latin typeface="Calibri"/>
                <a:ea typeface="Calibri"/>
              </a:rPr>
              <a:t>single-concept queries.</a:t>
            </a:r>
            <a:endParaRPr lang="fr-FR" sz="1200" b="0" u="none" strike="noStrike">
              <a:solidFill>
                <a:srgbClr val="000000"/>
              </a:solidFill>
              <a:effectLst/>
              <a:uFillTx/>
              <a:latin typeface="Arial"/>
            </a:endParaRPr>
          </a:p>
          <a:p>
            <a:pPr defTabSz="914400">
              <a:lnSpc>
                <a:spcPct val="100000"/>
              </a:lnSpc>
              <a:tabLst>
                <a:tab algn="l" pos="0"/>
              </a:tabLst>
            </a:pPr>
            <a:r>
              <a:rPr lang="en-US" sz="1200" b="0" i="1" u="none" strike="noStrike">
                <a:solidFill>
                  <a:srgbClr val="6b6b6b"/>
                </a:solidFill>
                <a:effectLst/>
                <a:uFillTx/>
                <a:latin typeface="Calibri"/>
                <a:ea typeface="Calibri"/>
              </a:rPr>
              <a:t>"explain Flask routes": dense repetition pushes the most focused chunk to the top.</a:t>
            </a:r>
            <a:endParaRPr lang="fr-FR" sz="1200" b="0" u="none" strike="noStrike">
              <a:solidFill>
                <a:srgbClr val="000000"/>
              </a:solidFill>
              <a:effectLst/>
              <a:uFillTx/>
              <a:latin typeface="Arial"/>
            </a:endParaRPr>
          </a:p>
        </p:txBody>
      </p:sp>
      <p:sp>
        <p:nvSpPr>
          <p:cNvPr id="113" name="Text 9"/>
          <p:cNvSpPr/>
          <p:nvPr/>
        </p:nvSpPr>
        <p:spPr>
          <a:xfrm>
            <a:off x="777240" y="5029200"/>
            <a:ext cx="502884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0" u="none" strike="noStrike">
                <a:solidFill>
                  <a:srgbClr val="0d9488"/>
                </a:solidFill>
                <a:effectLst/>
                <a:uFillTx/>
                <a:latin typeface="Consolas"/>
                <a:ea typeface="Consolas"/>
              </a:rPr>
              <a:t>score = Σ count(qᵢ in chunk)</a:t>
            </a:r>
            <a:endParaRPr lang="fr-FR" sz="1300" b="0" u="none" strike="noStrike">
              <a:solidFill>
                <a:srgbClr val="000000"/>
              </a:solidFill>
              <a:effectLst/>
              <a:uFillTx/>
              <a:latin typeface="Arial"/>
            </a:endParaRPr>
          </a:p>
        </p:txBody>
      </p:sp>
      <p:sp>
        <p:nvSpPr>
          <p:cNvPr id="114" name="Shape 10"/>
          <p:cNvSpPr/>
          <p:nvPr/>
        </p:nvSpPr>
        <p:spPr>
          <a:xfrm>
            <a:off x="6172200" y="1783080"/>
            <a:ext cx="5440320" cy="40230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115" name="Shape 11"/>
          <p:cNvSpPr/>
          <p:nvPr/>
        </p:nvSpPr>
        <p:spPr>
          <a:xfrm>
            <a:off x="6172200" y="1783080"/>
            <a:ext cx="72720" cy="402300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116" name="Image 1" descr="preencoded.png"/>
          <p:cNvPicPr/>
          <p:nvPr/>
        </p:nvPicPr>
        <p:blipFill>
          <a:blip r:embed="rId2"/>
          <a:stretch/>
        </p:blipFill>
        <p:spPr>
          <a:xfrm>
            <a:off x="6400800" y="1965960"/>
            <a:ext cx="365400" cy="365400"/>
          </a:xfrm>
          <a:prstGeom prst="rect">
            <a:avLst/>
          </a:prstGeom>
          <a:noFill/>
          <a:ln w="0">
            <a:noFill/>
          </a:ln>
        </p:spPr>
      </p:pic>
      <p:sp>
        <p:nvSpPr>
          <p:cNvPr id="117" name="Text 12"/>
          <p:cNvSpPr/>
          <p:nvPr/>
        </p:nvSpPr>
        <p:spPr>
          <a:xfrm>
            <a:off x="6858000" y="1938600"/>
            <a:ext cx="45716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1a1a1a"/>
                </a:solidFill>
                <a:effectLst/>
                <a:uFillTx/>
                <a:latin typeface="Georgia"/>
                <a:ea typeface="Georgia"/>
              </a:rPr>
              <a:t>TF uniqueness</a:t>
            </a:r>
            <a:endParaRPr lang="fr-FR" sz="2000" b="0" u="none" strike="noStrike">
              <a:solidFill>
                <a:srgbClr val="000000"/>
              </a:solidFill>
              <a:effectLst/>
              <a:uFillTx/>
              <a:latin typeface="Arial"/>
            </a:endParaRPr>
          </a:p>
        </p:txBody>
      </p:sp>
      <p:sp>
        <p:nvSpPr>
          <p:cNvPr id="118" name="Text 13"/>
          <p:cNvSpPr/>
          <p:nvPr/>
        </p:nvSpPr>
        <p:spPr>
          <a:xfrm>
            <a:off x="6400800" y="2377440"/>
            <a:ext cx="50288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1" i="1" u="none" spc="300" strike="noStrike">
                <a:solidFill>
                  <a:srgbClr val="0d9488"/>
                </a:solidFill>
                <a:effectLst/>
                <a:uFillTx/>
                <a:latin typeface="Calibri"/>
                <a:ea typeface="Calibri"/>
              </a:rPr>
              <a:t>opt-in</a:t>
            </a:r>
            <a:endParaRPr lang="fr-FR" sz="1000" b="0" u="none" strike="noStrike">
              <a:solidFill>
                <a:srgbClr val="000000"/>
              </a:solidFill>
              <a:effectLst/>
              <a:uFillTx/>
              <a:latin typeface="Arial"/>
            </a:endParaRPr>
          </a:p>
        </p:txBody>
      </p:sp>
      <p:sp>
        <p:nvSpPr>
          <p:cNvPr id="119" name="Text 14"/>
          <p:cNvSpPr/>
          <p:nvPr/>
        </p:nvSpPr>
        <p:spPr>
          <a:xfrm>
            <a:off x="6400800" y="2743200"/>
            <a:ext cx="502884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00" b="0" u="none" strike="noStrike">
                <a:solidFill>
                  <a:srgbClr val="2b2b2b"/>
                </a:solidFill>
                <a:effectLst/>
                <a:uFillTx/>
                <a:latin typeface="Calibri"/>
                <a:ea typeface="Calibri"/>
              </a:rPr>
              <a:t>Score = how many distinct query words show up at least once.</a:t>
            </a:r>
            <a:endParaRPr lang="fr-FR" sz="1300" b="0" u="none" strike="noStrike">
              <a:solidFill>
                <a:srgbClr val="000000"/>
              </a:solidFill>
              <a:effectLst/>
              <a:uFillTx/>
              <a:latin typeface="Arial"/>
            </a:endParaRPr>
          </a:p>
        </p:txBody>
      </p:sp>
      <p:sp>
        <p:nvSpPr>
          <p:cNvPr id="120" name="Text 15"/>
          <p:cNvSpPr/>
          <p:nvPr/>
        </p:nvSpPr>
        <p:spPr>
          <a:xfrm>
            <a:off x="6400800" y="3474720"/>
            <a:ext cx="5028840" cy="12798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u="none" strike="noStrike">
                <a:solidFill>
                  <a:srgbClr val="6b6b6b"/>
                </a:solidFill>
                <a:effectLst/>
                <a:uFillTx/>
                <a:latin typeface="Calibri"/>
                <a:ea typeface="Calibri"/>
              </a:rPr>
              <a:t>Wins on  </a:t>
            </a:r>
            <a:r>
              <a:rPr lang="en-US" sz="1200" b="1" u="none" strike="noStrike">
                <a:solidFill>
                  <a:srgbClr val="1a1a1a"/>
                </a:solidFill>
                <a:effectLst/>
                <a:uFillTx/>
                <a:latin typeface="Calibri"/>
                <a:ea typeface="Calibri"/>
              </a:rPr>
              <a:t>multi-term exploratory queries.</a:t>
            </a:r>
            <a:endParaRPr lang="fr-FR" sz="1200" b="0" u="none" strike="noStrike">
              <a:solidFill>
                <a:srgbClr val="000000"/>
              </a:solidFill>
              <a:effectLst/>
              <a:uFillTx/>
              <a:latin typeface="Arial"/>
            </a:endParaRPr>
          </a:p>
          <a:p>
            <a:pPr defTabSz="914400">
              <a:lnSpc>
                <a:spcPct val="100000"/>
              </a:lnSpc>
              <a:tabLst>
                <a:tab algn="l" pos="0"/>
              </a:tabLst>
            </a:pPr>
            <a:r>
              <a:rPr lang="en-US" sz="1200" b="0" i="1" u="none" strike="noStrike">
                <a:solidFill>
                  <a:srgbClr val="6b6b6b"/>
                </a:solidFill>
                <a:effectLst/>
                <a:uFillTx/>
                <a:latin typeface="Calibri"/>
                <a:ea typeface="Calibri"/>
              </a:rPr>
              <a:t>"database schema artifacts persistence": broad coverage beats raw repetition.</a:t>
            </a:r>
            <a:endParaRPr lang="fr-FR" sz="1200" b="0" u="none" strike="noStrike">
              <a:solidFill>
                <a:srgbClr val="000000"/>
              </a:solidFill>
              <a:effectLst/>
              <a:uFillTx/>
              <a:latin typeface="Arial"/>
            </a:endParaRPr>
          </a:p>
        </p:txBody>
      </p:sp>
      <p:sp>
        <p:nvSpPr>
          <p:cNvPr id="121" name="Text 16"/>
          <p:cNvSpPr/>
          <p:nvPr/>
        </p:nvSpPr>
        <p:spPr>
          <a:xfrm>
            <a:off x="6400800" y="5029200"/>
            <a:ext cx="5028840" cy="4111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300" b="0" u="none" strike="noStrike">
                <a:solidFill>
                  <a:srgbClr val="0d9488"/>
                </a:solidFill>
                <a:effectLst/>
                <a:uFillTx/>
                <a:latin typeface="Consolas"/>
                <a:ea typeface="Consolas"/>
              </a:rPr>
              <a:t>score = | query ∩ chunk |</a:t>
            </a:r>
            <a:endParaRPr lang="fr-FR" sz="1300" b="0" u="none" strike="noStrike">
              <a:solidFill>
                <a:srgbClr val="000000"/>
              </a:solidFill>
              <a:effectLst/>
              <a:uFillTx/>
              <a:latin typeface="Arial"/>
            </a:endParaRPr>
          </a:p>
        </p:txBody>
      </p:sp>
      <p:sp>
        <p:nvSpPr>
          <p:cNvPr id="122" name="Text 17"/>
          <p:cNvSpPr/>
          <p:nvPr/>
        </p:nvSpPr>
        <p:spPr>
          <a:xfrm>
            <a:off x="548640" y="5989320"/>
            <a:ext cx="11063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0" i="1" u="none" strike="noStrike">
                <a:solidFill>
                  <a:srgbClr val="6b6b6b"/>
                </a:solidFill>
                <a:effectLst/>
                <a:uFillTx/>
                <a:latin typeface="Calibri"/>
                <a:ea typeface="Calibri"/>
              </a:rPr>
              <a:t>Both live behind one interface in _top_chunks(). The user picks the strategy from the chat panel.</a:t>
            </a:r>
            <a:endParaRPr lang="fr-F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3"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07  ·  ENGINEERING CHALLENGE B</a:t>
            </a:r>
            <a:endParaRPr lang="fr-FR" sz="1100" b="0" u="none" strike="noStrike">
              <a:solidFill>
                <a:srgbClr val="000000"/>
              </a:solidFill>
              <a:effectLst/>
              <a:uFillTx/>
              <a:latin typeface="Arial"/>
            </a:endParaRPr>
          </a:p>
        </p:txBody>
      </p:sp>
      <p:sp>
        <p:nvSpPr>
          <p:cNvPr id="124"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Prompt engineering for structured outputs</a:t>
            </a:r>
            <a:endParaRPr lang="fr-FR" sz="3600" b="0" u="none" strike="noStrike">
              <a:solidFill>
                <a:srgbClr val="000000"/>
              </a:solidFill>
              <a:effectLst/>
              <a:uFillTx/>
              <a:latin typeface="Arial"/>
            </a:endParaRPr>
          </a:p>
        </p:txBody>
      </p:sp>
      <p:sp>
        <p:nvSpPr>
          <p:cNvPr id="125"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126" name="Text 3"/>
          <p:cNvSpPr/>
          <p:nvPr/>
        </p:nvSpPr>
        <p:spPr>
          <a:xfrm>
            <a:off x="548640" y="1783080"/>
            <a:ext cx="1106388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500" b="0" u="none" strike="noStrike">
                <a:solidFill>
                  <a:srgbClr val="2b2b2b"/>
                </a:solidFill>
                <a:effectLst/>
                <a:uFillTx/>
                <a:latin typeface="Calibri"/>
                <a:ea typeface="Calibri"/>
              </a:rPr>
              <a:t>Flashcards and quizzes have to come back as valid JSON. The llama-3.3-70b model wouldn't cooperate at first.</a:t>
            </a:r>
            <a:endParaRPr lang="fr-FR" sz="1500" b="0" u="none" strike="noStrike">
              <a:solidFill>
                <a:srgbClr val="000000"/>
              </a:solidFill>
              <a:effectLst/>
              <a:uFillTx/>
              <a:latin typeface="Arial"/>
            </a:endParaRPr>
          </a:p>
        </p:txBody>
      </p:sp>
      <p:sp>
        <p:nvSpPr>
          <p:cNvPr id="127" name="Shape 4"/>
          <p:cNvSpPr/>
          <p:nvPr/>
        </p:nvSpPr>
        <p:spPr>
          <a:xfrm>
            <a:off x="548640" y="2468880"/>
            <a:ext cx="3611520" cy="32000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128" name="Shape 5"/>
          <p:cNvSpPr/>
          <p:nvPr/>
        </p:nvSpPr>
        <p:spPr>
          <a:xfrm>
            <a:off x="548640" y="2468880"/>
            <a:ext cx="3611520" cy="72720"/>
          </a:xfrm>
          <a:prstGeom prst="rect">
            <a:avLst/>
          </a:prstGeom>
          <a:solidFill>
            <a:srgbClr val="c2410c"/>
          </a:solidFill>
          <a:ln w="12700">
            <a:solidFill>
              <a:srgbClr val="c2410c"/>
            </a:solidFill>
            <a:round/>
          </a:ln>
        </p:spPr>
        <p:style>
          <a:lnRef idx="0"/>
          <a:fillRef idx="0"/>
          <a:effectRef idx="0"/>
          <a:fontRef idx="minor"/>
        </p:style>
        <p:txBody>
          <a:bodyPr lIns="90000" rIns="90000" tIns="28080" bIns="28080" anchor="t">
            <a:noAutofit/>
          </a:bodyPr>
          <a:p>
            <a:endParaRPr lang="fr-FR" sz="1800" b="0" u="none" strike="noStrike">
              <a:solidFill>
                <a:srgbClr val="ffffff"/>
              </a:solidFill>
              <a:effectLst/>
              <a:uFillTx/>
              <a:latin typeface="Arial"/>
            </a:endParaRPr>
          </a:p>
        </p:txBody>
      </p:sp>
      <p:sp>
        <p:nvSpPr>
          <p:cNvPr id="129" name="Text 6"/>
          <p:cNvSpPr/>
          <p:nvPr/>
        </p:nvSpPr>
        <p:spPr>
          <a:xfrm>
            <a:off x="777240" y="2697480"/>
            <a:ext cx="914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6b6b6b"/>
                </a:solidFill>
                <a:effectLst/>
                <a:uFillTx/>
                <a:latin typeface="Consolas"/>
                <a:ea typeface="Consolas"/>
              </a:rPr>
              <a:t>v1</a:t>
            </a:r>
            <a:endParaRPr lang="fr-FR" sz="1100" b="0" u="none" strike="noStrike">
              <a:solidFill>
                <a:srgbClr val="000000"/>
              </a:solidFill>
              <a:effectLst/>
              <a:uFillTx/>
              <a:latin typeface="Arial"/>
            </a:endParaRPr>
          </a:p>
        </p:txBody>
      </p:sp>
      <p:sp>
        <p:nvSpPr>
          <p:cNvPr id="130" name="Text 7"/>
          <p:cNvSpPr/>
          <p:nvPr/>
        </p:nvSpPr>
        <p:spPr>
          <a:xfrm>
            <a:off x="777240" y="297180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Polite ask</a:t>
            </a:r>
            <a:endParaRPr lang="fr-FR" sz="1800" b="0" u="none" strike="noStrike">
              <a:solidFill>
                <a:srgbClr val="000000"/>
              </a:solidFill>
              <a:effectLst/>
              <a:uFillTx/>
              <a:latin typeface="Arial"/>
            </a:endParaRPr>
          </a:p>
        </p:txBody>
      </p:sp>
      <p:sp>
        <p:nvSpPr>
          <p:cNvPr id="131" name="Text 8"/>
          <p:cNvSpPr/>
          <p:nvPr/>
        </p:nvSpPr>
        <p:spPr>
          <a:xfrm>
            <a:off x="777240" y="3474720"/>
            <a:ext cx="3154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6b6b6b"/>
                </a:solidFill>
                <a:effectLst/>
                <a:uFillTx/>
                <a:latin typeface="Calibri"/>
                <a:ea typeface="Calibri"/>
              </a:rPr>
              <a:t>PROMPT</a:t>
            </a:r>
            <a:endParaRPr lang="fr-FR" sz="900" b="0" u="none" strike="noStrike">
              <a:solidFill>
                <a:srgbClr val="000000"/>
              </a:solidFill>
              <a:effectLst/>
              <a:uFillTx/>
              <a:latin typeface="Arial"/>
            </a:endParaRPr>
          </a:p>
        </p:txBody>
      </p:sp>
      <p:sp>
        <p:nvSpPr>
          <p:cNvPr id="132" name="Text 9"/>
          <p:cNvSpPr/>
          <p:nvPr/>
        </p:nvSpPr>
        <p:spPr>
          <a:xfrm>
            <a:off x="777240" y="3703320"/>
            <a:ext cx="31543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0d9488"/>
                </a:solidFill>
                <a:effectLst/>
                <a:uFillTx/>
                <a:latin typeface="Consolas"/>
                <a:ea typeface="Consolas"/>
              </a:rPr>
              <a:t>"Return JSON like:</a:t>
            </a:r>
            <a:endParaRPr lang="fr-FR"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0d9488"/>
                </a:solidFill>
                <a:effectLst/>
                <a:uFillTx/>
                <a:latin typeface="Consolas"/>
                <a:ea typeface="Consolas"/>
              </a:rPr>
              <a:t>[ { ... } ]"</a:t>
            </a:r>
            <a:endParaRPr lang="fr-FR" sz="1000" b="0" u="none" strike="noStrike">
              <a:solidFill>
                <a:srgbClr val="000000"/>
              </a:solidFill>
              <a:effectLst/>
              <a:uFillTx/>
              <a:latin typeface="Arial"/>
            </a:endParaRPr>
          </a:p>
        </p:txBody>
      </p:sp>
      <p:sp>
        <p:nvSpPr>
          <p:cNvPr id="133" name="Text 10"/>
          <p:cNvSpPr/>
          <p:nvPr/>
        </p:nvSpPr>
        <p:spPr>
          <a:xfrm>
            <a:off x="777240" y="4572000"/>
            <a:ext cx="3154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6b6b6b"/>
                </a:solidFill>
                <a:effectLst/>
                <a:uFillTx/>
                <a:latin typeface="Calibri"/>
                <a:ea typeface="Calibri"/>
              </a:rPr>
              <a:t>RESULT</a:t>
            </a:r>
            <a:endParaRPr lang="fr-FR" sz="900" b="0" u="none" strike="noStrike">
              <a:solidFill>
                <a:srgbClr val="000000"/>
              </a:solidFill>
              <a:effectLst/>
              <a:uFillTx/>
              <a:latin typeface="Arial"/>
            </a:endParaRPr>
          </a:p>
        </p:txBody>
      </p:sp>
      <p:sp>
        <p:nvSpPr>
          <p:cNvPr id="134" name="Text 11"/>
          <p:cNvSpPr/>
          <p:nvPr/>
        </p:nvSpPr>
        <p:spPr>
          <a:xfrm>
            <a:off x="777240" y="4800600"/>
            <a:ext cx="315432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Model wraps it in prose:</a:t>
            </a:r>
            <a:endParaRPr lang="fr-FR" sz="1100" b="0" u="none" strike="noStrike">
              <a:solidFill>
                <a:srgbClr val="000000"/>
              </a:solidFill>
              <a:effectLst/>
              <a:uFillTx/>
              <a:latin typeface="Arial"/>
            </a:endParaRPr>
          </a:p>
          <a:p>
            <a:pPr defTabSz="914400">
              <a:lnSpc>
                <a:spcPct val="100000"/>
              </a:lnSpc>
              <a:tabLst>
                <a:tab algn="l" pos="0"/>
              </a:tabLst>
            </a:pPr>
            <a:r>
              <a:rPr lang="en-US" sz="1100" b="0" u="none" strike="noStrike">
                <a:solidFill>
                  <a:srgbClr val="2b2b2b"/>
                </a:solidFill>
                <a:effectLst/>
                <a:uFillTx/>
                <a:latin typeface="Calibri"/>
                <a:ea typeface="Calibri"/>
              </a:rPr>
              <a:t>"Here are the flashcards: [...]"</a:t>
            </a:r>
            <a:endParaRPr lang="fr-FR" sz="1100" b="0" u="none" strike="noStrike">
              <a:solidFill>
                <a:srgbClr val="000000"/>
              </a:solidFill>
              <a:effectLst/>
              <a:uFillTx/>
              <a:latin typeface="Arial"/>
            </a:endParaRPr>
          </a:p>
        </p:txBody>
      </p:sp>
      <p:sp>
        <p:nvSpPr>
          <p:cNvPr id="135" name="Shape 12"/>
          <p:cNvSpPr/>
          <p:nvPr/>
        </p:nvSpPr>
        <p:spPr>
          <a:xfrm>
            <a:off x="4297680" y="2468880"/>
            <a:ext cx="3611520" cy="32000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136" name="Shape 13"/>
          <p:cNvSpPr/>
          <p:nvPr/>
        </p:nvSpPr>
        <p:spPr>
          <a:xfrm>
            <a:off x="4297680" y="2468880"/>
            <a:ext cx="3611520" cy="72720"/>
          </a:xfrm>
          <a:prstGeom prst="rect">
            <a:avLst/>
          </a:prstGeom>
          <a:solidFill>
            <a:srgbClr val="c2410c"/>
          </a:solidFill>
          <a:ln w="12700">
            <a:solidFill>
              <a:srgbClr val="c2410c"/>
            </a:solidFill>
            <a:round/>
          </a:ln>
        </p:spPr>
        <p:style>
          <a:lnRef idx="0"/>
          <a:fillRef idx="0"/>
          <a:effectRef idx="0"/>
          <a:fontRef idx="minor"/>
        </p:style>
        <p:txBody>
          <a:bodyPr lIns="90000" rIns="90000" tIns="28080" bIns="28080" anchor="t">
            <a:noAutofit/>
          </a:bodyPr>
          <a:p>
            <a:endParaRPr lang="fr-FR" sz="1800" b="0" u="none" strike="noStrike">
              <a:solidFill>
                <a:srgbClr val="ffffff"/>
              </a:solidFill>
              <a:effectLst/>
              <a:uFillTx/>
              <a:latin typeface="Arial"/>
            </a:endParaRPr>
          </a:p>
        </p:txBody>
      </p:sp>
      <p:sp>
        <p:nvSpPr>
          <p:cNvPr id="137" name="Text 14"/>
          <p:cNvSpPr/>
          <p:nvPr/>
        </p:nvSpPr>
        <p:spPr>
          <a:xfrm>
            <a:off x="4526280" y="2697480"/>
            <a:ext cx="914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6b6b6b"/>
                </a:solidFill>
                <a:effectLst/>
                <a:uFillTx/>
                <a:latin typeface="Consolas"/>
                <a:ea typeface="Consolas"/>
              </a:rPr>
              <a:t>v2</a:t>
            </a:r>
            <a:endParaRPr lang="fr-FR" sz="1100" b="0" u="none" strike="noStrike">
              <a:solidFill>
                <a:srgbClr val="000000"/>
              </a:solidFill>
              <a:effectLst/>
              <a:uFillTx/>
              <a:latin typeface="Arial"/>
            </a:endParaRPr>
          </a:p>
        </p:txBody>
      </p:sp>
      <p:sp>
        <p:nvSpPr>
          <p:cNvPr id="138" name="Text 15"/>
          <p:cNvSpPr/>
          <p:nvPr/>
        </p:nvSpPr>
        <p:spPr>
          <a:xfrm>
            <a:off x="4526280" y="297180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Stricter ask</a:t>
            </a:r>
            <a:endParaRPr lang="fr-FR" sz="1800" b="0" u="none" strike="noStrike">
              <a:solidFill>
                <a:srgbClr val="000000"/>
              </a:solidFill>
              <a:effectLst/>
              <a:uFillTx/>
              <a:latin typeface="Arial"/>
            </a:endParaRPr>
          </a:p>
        </p:txBody>
      </p:sp>
      <p:sp>
        <p:nvSpPr>
          <p:cNvPr id="139" name="Text 16"/>
          <p:cNvSpPr/>
          <p:nvPr/>
        </p:nvSpPr>
        <p:spPr>
          <a:xfrm>
            <a:off x="4526280" y="3474720"/>
            <a:ext cx="3154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6b6b6b"/>
                </a:solidFill>
                <a:effectLst/>
                <a:uFillTx/>
                <a:latin typeface="Calibri"/>
                <a:ea typeface="Calibri"/>
              </a:rPr>
              <a:t>PROMPT</a:t>
            </a:r>
            <a:endParaRPr lang="fr-FR" sz="900" b="0" u="none" strike="noStrike">
              <a:solidFill>
                <a:srgbClr val="000000"/>
              </a:solidFill>
              <a:effectLst/>
              <a:uFillTx/>
              <a:latin typeface="Arial"/>
            </a:endParaRPr>
          </a:p>
        </p:txBody>
      </p:sp>
      <p:sp>
        <p:nvSpPr>
          <p:cNvPr id="140" name="Text 17"/>
          <p:cNvSpPr/>
          <p:nvPr/>
        </p:nvSpPr>
        <p:spPr>
          <a:xfrm>
            <a:off x="4526280" y="3703320"/>
            <a:ext cx="31543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0d9488"/>
                </a:solidFill>
                <a:effectLst/>
                <a:uFillTx/>
                <a:latin typeface="Consolas"/>
                <a:ea typeface="Consolas"/>
              </a:rPr>
              <a:t>"Return ONLY a JSON array.</a:t>
            </a:r>
            <a:endParaRPr lang="fr-FR"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0d9488"/>
                </a:solidFill>
                <a:effectLst/>
                <a:uFillTx/>
                <a:latin typeface="Consolas"/>
                <a:ea typeface="Consolas"/>
              </a:rPr>
              <a:t>No prose. No explanation."</a:t>
            </a:r>
            <a:endParaRPr lang="fr-FR" sz="1000" b="0" u="none" strike="noStrike">
              <a:solidFill>
                <a:srgbClr val="000000"/>
              </a:solidFill>
              <a:effectLst/>
              <a:uFillTx/>
              <a:latin typeface="Arial"/>
            </a:endParaRPr>
          </a:p>
        </p:txBody>
      </p:sp>
      <p:sp>
        <p:nvSpPr>
          <p:cNvPr id="141" name="Text 18"/>
          <p:cNvSpPr/>
          <p:nvPr/>
        </p:nvSpPr>
        <p:spPr>
          <a:xfrm>
            <a:off x="4526280" y="4572000"/>
            <a:ext cx="3154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6b6b6b"/>
                </a:solidFill>
                <a:effectLst/>
                <a:uFillTx/>
                <a:latin typeface="Calibri"/>
                <a:ea typeface="Calibri"/>
              </a:rPr>
              <a:t>RESULT</a:t>
            </a:r>
            <a:endParaRPr lang="fr-FR" sz="900" b="0" u="none" strike="noStrike">
              <a:solidFill>
                <a:srgbClr val="000000"/>
              </a:solidFill>
              <a:effectLst/>
              <a:uFillTx/>
              <a:latin typeface="Arial"/>
            </a:endParaRPr>
          </a:p>
        </p:txBody>
      </p:sp>
      <p:sp>
        <p:nvSpPr>
          <p:cNvPr id="142" name="Text 19"/>
          <p:cNvSpPr/>
          <p:nvPr/>
        </p:nvSpPr>
        <p:spPr>
          <a:xfrm>
            <a:off x="4526280" y="4800600"/>
            <a:ext cx="315432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Better, but the model still adds a trailing</a:t>
            </a:r>
            <a:endParaRPr lang="fr-FR" sz="1100" b="0" u="none" strike="noStrike">
              <a:solidFill>
                <a:srgbClr val="000000"/>
              </a:solidFill>
              <a:effectLst/>
              <a:uFillTx/>
              <a:latin typeface="Arial"/>
            </a:endParaRPr>
          </a:p>
          <a:p>
            <a:pPr defTabSz="914400">
              <a:lnSpc>
                <a:spcPct val="100000"/>
              </a:lnSpc>
              <a:tabLst>
                <a:tab algn="l" pos="0"/>
              </a:tabLst>
            </a:pPr>
            <a:r>
              <a:rPr lang="en-US" sz="1100" b="0" u="none" strike="noStrike">
                <a:solidFill>
                  <a:srgbClr val="2b2b2b"/>
                </a:solidFill>
                <a:effectLst/>
                <a:uFillTx/>
                <a:latin typeface="Calibri"/>
                <a:ea typeface="Calibri"/>
              </a:rPr>
              <a:t>sentence on long generations.</a:t>
            </a:r>
            <a:endParaRPr lang="fr-FR" sz="1100" b="0" u="none" strike="noStrike">
              <a:solidFill>
                <a:srgbClr val="000000"/>
              </a:solidFill>
              <a:effectLst/>
              <a:uFillTx/>
              <a:latin typeface="Arial"/>
            </a:endParaRPr>
          </a:p>
        </p:txBody>
      </p:sp>
      <p:sp>
        <p:nvSpPr>
          <p:cNvPr id="143" name="Shape 20"/>
          <p:cNvSpPr/>
          <p:nvPr/>
        </p:nvSpPr>
        <p:spPr>
          <a:xfrm>
            <a:off x="8046720" y="2468880"/>
            <a:ext cx="3611520" cy="32000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144" name="Shape 21"/>
          <p:cNvSpPr/>
          <p:nvPr/>
        </p:nvSpPr>
        <p:spPr>
          <a:xfrm>
            <a:off x="8046720" y="2468880"/>
            <a:ext cx="3611520" cy="72720"/>
          </a:xfrm>
          <a:prstGeom prst="rect">
            <a:avLst/>
          </a:prstGeom>
          <a:solidFill>
            <a:srgbClr val="0d9488"/>
          </a:solidFill>
          <a:ln w="12700">
            <a:solidFill>
              <a:srgbClr val="0d9488"/>
            </a:solidFill>
            <a:round/>
          </a:ln>
        </p:spPr>
        <p:style>
          <a:lnRef idx="0"/>
          <a:fillRef idx="0"/>
          <a:effectRef idx="0"/>
          <a:fontRef idx="minor"/>
        </p:style>
        <p:txBody>
          <a:bodyPr lIns="90000" rIns="90000" tIns="28080" bIns="28080" anchor="t">
            <a:noAutofit/>
          </a:bodyPr>
          <a:p>
            <a:endParaRPr lang="fr-FR" sz="1800" b="0" u="none" strike="noStrike">
              <a:solidFill>
                <a:srgbClr val="ffffff"/>
              </a:solidFill>
              <a:effectLst/>
              <a:uFillTx/>
              <a:latin typeface="Arial"/>
            </a:endParaRPr>
          </a:p>
        </p:txBody>
      </p:sp>
      <p:sp>
        <p:nvSpPr>
          <p:cNvPr id="145" name="Text 22"/>
          <p:cNvSpPr/>
          <p:nvPr/>
        </p:nvSpPr>
        <p:spPr>
          <a:xfrm>
            <a:off x="8275320" y="2697480"/>
            <a:ext cx="91404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trike="noStrike">
                <a:solidFill>
                  <a:srgbClr val="6b6b6b"/>
                </a:solidFill>
                <a:effectLst/>
                <a:uFillTx/>
                <a:latin typeface="Consolas"/>
                <a:ea typeface="Consolas"/>
              </a:rPr>
              <a:t>v3</a:t>
            </a:r>
            <a:endParaRPr lang="fr-FR" sz="1100" b="0" u="none" strike="noStrike">
              <a:solidFill>
                <a:srgbClr val="000000"/>
              </a:solidFill>
              <a:effectLst/>
              <a:uFillTx/>
              <a:latin typeface="Arial"/>
            </a:endParaRPr>
          </a:p>
        </p:txBody>
      </p:sp>
      <p:sp>
        <p:nvSpPr>
          <p:cNvPr id="146" name="Text 23"/>
          <p:cNvSpPr/>
          <p:nvPr/>
        </p:nvSpPr>
        <p:spPr>
          <a:xfrm>
            <a:off x="8275320" y="2971800"/>
            <a:ext cx="315432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800" b="1" u="none" strike="noStrike">
                <a:solidFill>
                  <a:srgbClr val="1a1a1a"/>
                </a:solidFill>
                <a:effectLst/>
                <a:uFillTx/>
                <a:latin typeface="Georgia"/>
                <a:ea typeface="Georgia"/>
              </a:rPr>
              <a:t>Strict + parser fallback</a:t>
            </a:r>
            <a:endParaRPr lang="fr-FR" sz="1800" b="0" u="none" strike="noStrike">
              <a:solidFill>
                <a:srgbClr val="000000"/>
              </a:solidFill>
              <a:effectLst/>
              <a:uFillTx/>
              <a:latin typeface="Arial"/>
            </a:endParaRPr>
          </a:p>
        </p:txBody>
      </p:sp>
      <p:sp>
        <p:nvSpPr>
          <p:cNvPr id="147" name="Text 24"/>
          <p:cNvSpPr/>
          <p:nvPr/>
        </p:nvSpPr>
        <p:spPr>
          <a:xfrm>
            <a:off x="8275320" y="3474720"/>
            <a:ext cx="3154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6b6b6b"/>
                </a:solidFill>
                <a:effectLst/>
                <a:uFillTx/>
                <a:latin typeface="Calibri"/>
                <a:ea typeface="Calibri"/>
              </a:rPr>
              <a:t>PROMPT</a:t>
            </a:r>
            <a:endParaRPr lang="fr-FR" sz="900" b="0" u="none" strike="noStrike">
              <a:solidFill>
                <a:srgbClr val="000000"/>
              </a:solidFill>
              <a:effectLst/>
              <a:uFillTx/>
              <a:latin typeface="Arial"/>
            </a:endParaRPr>
          </a:p>
        </p:txBody>
      </p:sp>
      <p:sp>
        <p:nvSpPr>
          <p:cNvPr id="148" name="Text 25"/>
          <p:cNvSpPr/>
          <p:nvPr/>
        </p:nvSpPr>
        <p:spPr>
          <a:xfrm>
            <a:off x="8275320" y="3703320"/>
            <a:ext cx="315432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0d9488"/>
                </a:solidFill>
                <a:effectLst/>
                <a:uFillTx/>
                <a:latin typeface="Consolas"/>
                <a:ea typeface="Consolas"/>
              </a:rPr>
              <a:t>Same strict prompt +</a:t>
            </a:r>
            <a:endParaRPr lang="fr-FR"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0d9488"/>
                </a:solidFill>
                <a:effectLst/>
                <a:uFillTx/>
                <a:latin typeface="Consolas"/>
                <a:ea typeface="Consolas"/>
              </a:rPr>
              <a:t>slice raw[ raw.find("[") :</a:t>
            </a:r>
            <a:endParaRPr lang="fr-FR"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0d9488"/>
                </a:solidFill>
                <a:effectLst/>
                <a:uFillTx/>
                <a:latin typeface="Consolas"/>
                <a:ea typeface="Consolas"/>
              </a:rPr>
              <a:t>raw.rfind("]")+1 ]</a:t>
            </a:r>
            <a:endParaRPr lang="fr-FR" sz="1000" b="0" u="none" strike="noStrike">
              <a:solidFill>
                <a:srgbClr val="000000"/>
              </a:solidFill>
              <a:effectLst/>
              <a:uFillTx/>
              <a:latin typeface="Arial"/>
            </a:endParaRPr>
          </a:p>
        </p:txBody>
      </p:sp>
      <p:sp>
        <p:nvSpPr>
          <p:cNvPr id="149" name="Text 26"/>
          <p:cNvSpPr/>
          <p:nvPr/>
        </p:nvSpPr>
        <p:spPr>
          <a:xfrm>
            <a:off x="8275320" y="4572000"/>
            <a:ext cx="315432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300" strike="noStrike">
                <a:solidFill>
                  <a:srgbClr val="6b6b6b"/>
                </a:solidFill>
                <a:effectLst/>
                <a:uFillTx/>
                <a:latin typeface="Calibri"/>
                <a:ea typeface="Calibri"/>
              </a:rPr>
              <a:t>RESULT</a:t>
            </a:r>
            <a:endParaRPr lang="fr-FR" sz="900" b="0" u="none" strike="noStrike">
              <a:solidFill>
                <a:srgbClr val="000000"/>
              </a:solidFill>
              <a:effectLst/>
              <a:uFillTx/>
              <a:latin typeface="Arial"/>
            </a:endParaRPr>
          </a:p>
        </p:txBody>
      </p:sp>
      <p:sp>
        <p:nvSpPr>
          <p:cNvPr id="150" name="Text 27"/>
          <p:cNvSpPr/>
          <p:nvPr/>
        </p:nvSpPr>
        <p:spPr>
          <a:xfrm>
            <a:off x="8275320" y="4800600"/>
            <a:ext cx="3154320" cy="822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2b2b2b"/>
                </a:solidFill>
                <a:effectLst/>
                <a:uFillTx/>
                <a:latin typeface="Calibri"/>
                <a:ea typeface="Calibri"/>
              </a:rPr>
              <a:t>Stable. Falls back to { raw } on</a:t>
            </a:r>
            <a:endParaRPr lang="fr-FR" sz="1100" b="0" u="none" strike="noStrike">
              <a:solidFill>
                <a:srgbClr val="000000"/>
              </a:solidFill>
              <a:effectLst/>
              <a:uFillTx/>
              <a:latin typeface="Arial"/>
            </a:endParaRPr>
          </a:p>
          <a:p>
            <a:pPr defTabSz="914400">
              <a:lnSpc>
                <a:spcPct val="100000"/>
              </a:lnSpc>
              <a:tabLst>
                <a:tab algn="l" pos="0"/>
              </a:tabLst>
            </a:pPr>
            <a:r>
              <a:rPr lang="en-US" sz="1100" b="0" u="none" strike="noStrike">
                <a:solidFill>
                  <a:srgbClr val="2b2b2b"/>
                </a:solidFill>
                <a:effectLst/>
                <a:uFillTx/>
                <a:latin typeface="Calibri"/>
                <a:ea typeface="Calibri"/>
              </a:rPr>
              <a:t>the rare malformed response.</a:t>
            </a:r>
            <a:endParaRPr lang="fr-FR" sz="1100" b="0" u="none" strike="noStrike">
              <a:solidFill>
                <a:srgbClr val="000000"/>
              </a:solidFill>
              <a:effectLst/>
              <a:uFillTx/>
              <a:latin typeface="Arial"/>
            </a:endParaRPr>
          </a:p>
        </p:txBody>
      </p:sp>
      <p:sp>
        <p:nvSpPr>
          <p:cNvPr id="151" name="Text 28"/>
          <p:cNvSpPr/>
          <p:nvPr/>
        </p:nvSpPr>
        <p:spPr>
          <a:xfrm>
            <a:off x="548640" y="5989320"/>
            <a:ext cx="11063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0" i="1" u="none" strike="noStrike">
                <a:solidFill>
                  <a:srgbClr val="6b6b6b"/>
                </a:solidFill>
                <a:effectLst/>
                <a:uFillTx/>
                <a:latin typeface="Calibri"/>
                <a:ea typeface="Calibri"/>
              </a:rPr>
              <a:t>Lesson: don't trust the prompt alone. Defend the parser too.</a:t>
            </a:r>
            <a:endParaRPr lang="fr-F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2"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08  ·  FAILURES</a:t>
            </a:r>
            <a:endParaRPr lang="fr-FR" sz="1100" b="0" u="none" strike="noStrike">
              <a:solidFill>
                <a:srgbClr val="000000"/>
              </a:solidFill>
              <a:effectLst/>
              <a:uFillTx/>
              <a:latin typeface="Arial"/>
            </a:endParaRPr>
          </a:p>
        </p:txBody>
      </p:sp>
      <p:sp>
        <p:nvSpPr>
          <p:cNvPr id="153"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Things that broke, things we changed</a:t>
            </a:r>
            <a:endParaRPr lang="fr-FR" sz="3600" b="0" u="none" strike="noStrike">
              <a:solidFill>
                <a:srgbClr val="000000"/>
              </a:solidFill>
              <a:effectLst/>
              <a:uFillTx/>
              <a:latin typeface="Arial"/>
            </a:endParaRPr>
          </a:p>
        </p:txBody>
      </p:sp>
      <p:sp>
        <p:nvSpPr>
          <p:cNvPr id="154"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155" name="Text 3"/>
          <p:cNvSpPr/>
          <p:nvPr/>
        </p:nvSpPr>
        <p:spPr>
          <a:xfrm>
            <a:off x="548640" y="1783080"/>
            <a:ext cx="5486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Provider migration</a:t>
            </a:r>
            <a:endParaRPr lang="fr-FR" sz="1600" b="0" u="none" strike="noStrike">
              <a:solidFill>
                <a:srgbClr val="000000"/>
              </a:solidFill>
              <a:effectLst/>
              <a:uFillTx/>
              <a:latin typeface="Arial"/>
            </a:endParaRPr>
          </a:p>
        </p:txBody>
      </p:sp>
      <p:sp>
        <p:nvSpPr>
          <p:cNvPr id="156" name="Shape 4"/>
          <p:cNvSpPr/>
          <p:nvPr/>
        </p:nvSpPr>
        <p:spPr>
          <a:xfrm>
            <a:off x="822960" y="2606040"/>
            <a:ext cx="10515600" cy="360"/>
          </a:xfrm>
          <a:prstGeom prst="line">
            <a:avLst/>
          </a:prstGeom>
          <a:ln w="25400">
            <a:solidFill>
              <a:srgbClr val="e5e5e5"/>
            </a:solidFill>
            <a:round/>
          </a:ln>
        </p:spPr>
        <p:style>
          <a:lnRef idx="0"/>
          <a:fillRef idx="0"/>
          <a:effectRef idx="0"/>
          <a:fontRef idx="minor"/>
        </p:style>
        <p:txBody>
          <a:bodyPr lIns="90000" rIns="90000" tIns="-44640" bIns="-44640" anchor="t" anchorCtr="1">
            <a:noAutofit/>
          </a:bodyPr>
          <a:p>
            <a:endParaRPr lang="fr-FR" sz="1800" b="0" u="none" strike="noStrike">
              <a:solidFill>
                <a:srgbClr val="000000"/>
              </a:solidFill>
              <a:effectLst/>
              <a:uFillTx/>
              <a:latin typeface="Arial"/>
            </a:endParaRPr>
          </a:p>
        </p:txBody>
      </p:sp>
      <p:sp>
        <p:nvSpPr>
          <p:cNvPr id="157" name="Shape 5"/>
          <p:cNvSpPr/>
          <p:nvPr/>
        </p:nvSpPr>
        <p:spPr>
          <a:xfrm>
            <a:off x="685800" y="2496240"/>
            <a:ext cx="219240" cy="219240"/>
          </a:xfrm>
          <a:prstGeom prst="ellipse">
            <a:avLst/>
          </a:prstGeom>
          <a:solidFill>
            <a:srgbClr val="c2410c"/>
          </a:solidFill>
          <a:ln w="12700">
            <a:solidFill>
              <a:srgbClr val="c2410c"/>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158" name="Image 0" descr="preencoded.png"/>
          <p:cNvPicPr/>
          <p:nvPr/>
        </p:nvPicPr>
        <p:blipFill>
          <a:blip r:embed="rId1"/>
          <a:stretch/>
        </p:blipFill>
        <p:spPr>
          <a:xfrm>
            <a:off x="713160" y="2523600"/>
            <a:ext cx="164160" cy="164160"/>
          </a:xfrm>
          <a:prstGeom prst="rect">
            <a:avLst/>
          </a:prstGeom>
          <a:noFill/>
          <a:ln w="0">
            <a:noFill/>
          </a:ln>
        </p:spPr>
      </p:pic>
      <p:sp>
        <p:nvSpPr>
          <p:cNvPr id="159" name="Text 6"/>
          <p:cNvSpPr/>
          <p:nvPr/>
        </p:nvSpPr>
        <p:spPr>
          <a:xfrm>
            <a:off x="1005840" y="2331720"/>
            <a:ext cx="3200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Claude</a:t>
            </a:r>
            <a:endParaRPr lang="fr-FR" sz="1600" b="0" u="none" strike="noStrike">
              <a:solidFill>
                <a:srgbClr val="000000"/>
              </a:solidFill>
              <a:effectLst/>
              <a:uFillTx/>
              <a:latin typeface="Arial"/>
            </a:endParaRPr>
          </a:p>
        </p:txBody>
      </p:sp>
      <p:sp>
        <p:nvSpPr>
          <p:cNvPr id="160" name="Text 7"/>
          <p:cNvSpPr/>
          <p:nvPr/>
        </p:nvSpPr>
        <p:spPr>
          <a:xfrm>
            <a:off x="1005840" y="2697480"/>
            <a:ext cx="32000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6b6b6b"/>
                </a:solidFill>
                <a:effectLst/>
                <a:uFillTx/>
                <a:latin typeface="Calibri"/>
                <a:ea typeface="Calibri"/>
              </a:rPr>
              <a:t>Billing required to use any tier.</a:t>
            </a:r>
            <a:endParaRPr lang="fr-FR" sz="1100" b="0" u="none" strike="noStrike">
              <a:solidFill>
                <a:srgbClr val="000000"/>
              </a:solidFill>
              <a:effectLst/>
              <a:uFillTx/>
              <a:latin typeface="Arial"/>
            </a:endParaRPr>
          </a:p>
        </p:txBody>
      </p:sp>
      <p:sp>
        <p:nvSpPr>
          <p:cNvPr id="161" name="Shape 8"/>
          <p:cNvSpPr/>
          <p:nvPr/>
        </p:nvSpPr>
        <p:spPr>
          <a:xfrm>
            <a:off x="4572000" y="2496240"/>
            <a:ext cx="219240" cy="219240"/>
          </a:xfrm>
          <a:prstGeom prst="ellipse">
            <a:avLst/>
          </a:prstGeom>
          <a:solidFill>
            <a:srgbClr val="c2410c"/>
          </a:solidFill>
          <a:ln w="12700">
            <a:solidFill>
              <a:srgbClr val="c2410c"/>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162" name="Image 1" descr="preencoded.png"/>
          <p:cNvPicPr/>
          <p:nvPr/>
        </p:nvPicPr>
        <p:blipFill>
          <a:blip r:embed="rId2"/>
          <a:stretch/>
        </p:blipFill>
        <p:spPr>
          <a:xfrm>
            <a:off x="4599360" y="2523600"/>
            <a:ext cx="164160" cy="164160"/>
          </a:xfrm>
          <a:prstGeom prst="rect">
            <a:avLst/>
          </a:prstGeom>
          <a:noFill/>
          <a:ln w="0">
            <a:noFill/>
          </a:ln>
        </p:spPr>
      </p:pic>
      <p:sp>
        <p:nvSpPr>
          <p:cNvPr id="163" name="Text 9"/>
          <p:cNvSpPr/>
          <p:nvPr/>
        </p:nvSpPr>
        <p:spPr>
          <a:xfrm>
            <a:off x="4892040" y="2331720"/>
            <a:ext cx="3200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Gemini</a:t>
            </a:r>
            <a:endParaRPr lang="fr-FR" sz="1600" b="0" u="none" strike="noStrike">
              <a:solidFill>
                <a:srgbClr val="000000"/>
              </a:solidFill>
              <a:effectLst/>
              <a:uFillTx/>
              <a:latin typeface="Arial"/>
            </a:endParaRPr>
          </a:p>
        </p:txBody>
      </p:sp>
      <p:sp>
        <p:nvSpPr>
          <p:cNvPr id="164" name="Text 10"/>
          <p:cNvSpPr/>
          <p:nvPr/>
        </p:nvSpPr>
        <p:spPr>
          <a:xfrm>
            <a:off x="4892040" y="2697480"/>
            <a:ext cx="32000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6b6b6b"/>
                </a:solidFill>
                <a:effectLst/>
                <a:uFillTx/>
                <a:latin typeface="Calibri"/>
                <a:ea typeface="Calibri"/>
              </a:rPr>
              <a:t>Free tier hit RESOURCE_EXHAUSTED on day one.</a:t>
            </a:r>
            <a:endParaRPr lang="fr-FR" sz="1100" b="0" u="none" strike="noStrike">
              <a:solidFill>
                <a:srgbClr val="000000"/>
              </a:solidFill>
              <a:effectLst/>
              <a:uFillTx/>
              <a:latin typeface="Arial"/>
            </a:endParaRPr>
          </a:p>
        </p:txBody>
      </p:sp>
      <p:sp>
        <p:nvSpPr>
          <p:cNvPr id="165" name="Shape 11"/>
          <p:cNvSpPr/>
          <p:nvPr/>
        </p:nvSpPr>
        <p:spPr>
          <a:xfrm>
            <a:off x="8458200" y="2496240"/>
            <a:ext cx="219240" cy="219240"/>
          </a:xfrm>
          <a:prstGeom prst="ellipse">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pic>
        <p:nvPicPr>
          <p:cNvPr id="166" name="Image 2" descr="preencoded.png"/>
          <p:cNvPicPr/>
          <p:nvPr/>
        </p:nvPicPr>
        <p:blipFill>
          <a:blip r:embed="rId3"/>
          <a:stretch/>
        </p:blipFill>
        <p:spPr>
          <a:xfrm>
            <a:off x="8485560" y="2523600"/>
            <a:ext cx="164160" cy="164160"/>
          </a:xfrm>
          <a:prstGeom prst="rect">
            <a:avLst/>
          </a:prstGeom>
          <a:noFill/>
          <a:ln w="0">
            <a:noFill/>
          </a:ln>
        </p:spPr>
      </p:pic>
      <p:sp>
        <p:nvSpPr>
          <p:cNvPr id="167" name="Text 12"/>
          <p:cNvSpPr/>
          <p:nvPr/>
        </p:nvSpPr>
        <p:spPr>
          <a:xfrm>
            <a:off x="8778240" y="2331720"/>
            <a:ext cx="3200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Groq</a:t>
            </a:r>
            <a:endParaRPr lang="fr-FR" sz="1600" b="0" u="none" strike="noStrike">
              <a:solidFill>
                <a:srgbClr val="000000"/>
              </a:solidFill>
              <a:effectLst/>
              <a:uFillTx/>
              <a:latin typeface="Arial"/>
            </a:endParaRPr>
          </a:p>
        </p:txBody>
      </p:sp>
      <p:sp>
        <p:nvSpPr>
          <p:cNvPr id="168" name="Text 13"/>
          <p:cNvSpPr/>
          <p:nvPr/>
        </p:nvSpPr>
        <p:spPr>
          <a:xfrm>
            <a:off x="8778240" y="2697480"/>
            <a:ext cx="3200040" cy="5940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6b6b6b"/>
                </a:solidFill>
                <a:effectLst/>
                <a:uFillTx/>
                <a:latin typeface="Calibri"/>
                <a:ea typeface="Calibri"/>
              </a:rPr>
              <a:t>No billing. Stable through testing.</a:t>
            </a:r>
            <a:endParaRPr lang="fr-FR" sz="1100" b="0" u="none" strike="noStrike">
              <a:solidFill>
                <a:srgbClr val="000000"/>
              </a:solidFill>
              <a:effectLst/>
              <a:uFillTx/>
              <a:latin typeface="Arial"/>
            </a:endParaRPr>
          </a:p>
        </p:txBody>
      </p:sp>
      <p:sp>
        <p:nvSpPr>
          <p:cNvPr id="169" name="Text 14"/>
          <p:cNvSpPr/>
          <p:nvPr/>
        </p:nvSpPr>
        <p:spPr>
          <a:xfrm>
            <a:off x="548640" y="3611880"/>
            <a:ext cx="73148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Code-review session  ·  May 26</a:t>
            </a:r>
            <a:endParaRPr lang="fr-FR" sz="1600" b="0" u="none" strike="noStrike">
              <a:solidFill>
                <a:srgbClr val="000000"/>
              </a:solidFill>
              <a:effectLst/>
              <a:uFillTx/>
              <a:latin typeface="Arial"/>
            </a:endParaRPr>
          </a:p>
        </p:txBody>
      </p:sp>
      <p:sp>
        <p:nvSpPr>
          <p:cNvPr id="170" name="Shape 15"/>
          <p:cNvSpPr/>
          <p:nvPr/>
        </p:nvSpPr>
        <p:spPr>
          <a:xfrm>
            <a:off x="548640" y="4114800"/>
            <a:ext cx="2697120" cy="13712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171" name="Image 3" descr="preencoded.png"/>
          <p:cNvPicPr/>
          <p:nvPr/>
        </p:nvPicPr>
        <p:blipFill>
          <a:blip r:embed="rId4"/>
          <a:stretch/>
        </p:blipFill>
        <p:spPr>
          <a:xfrm>
            <a:off x="731520" y="4297680"/>
            <a:ext cx="273960" cy="273960"/>
          </a:xfrm>
          <a:prstGeom prst="rect">
            <a:avLst/>
          </a:prstGeom>
          <a:noFill/>
          <a:ln w="0">
            <a:noFill/>
          </a:ln>
        </p:spPr>
      </p:pic>
      <p:sp>
        <p:nvSpPr>
          <p:cNvPr id="172" name="Text 16"/>
          <p:cNvSpPr/>
          <p:nvPr/>
        </p:nvSpPr>
        <p:spPr>
          <a:xfrm>
            <a:off x="1097280" y="4251960"/>
            <a:ext cx="196560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50" b="1" u="none" strike="noStrike">
                <a:solidFill>
                  <a:srgbClr val="1a1a1a"/>
                </a:solidFill>
                <a:effectLst/>
                <a:uFillTx/>
                <a:latin typeface="Calibri"/>
                <a:ea typeface="Calibri"/>
              </a:rPr>
              <a:t>Hardcoded SECRET_KEY</a:t>
            </a:r>
            <a:endParaRPr lang="fr-FR" sz="1250" b="0" u="none" strike="noStrike">
              <a:solidFill>
                <a:srgbClr val="000000"/>
              </a:solidFill>
              <a:effectLst/>
              <a:uFillTx/>
              <a:latin typeface="Arial"/>
            </a:endParaRPr>
          </a:p>
        </p:txBody>
      </p:sp>
      <p:sp>
        <p:nvSpPr>
          <p:cNvPr id="173" name="Shape 17"/>
          <p:cNvSpPr/>
          <p:nvPr/>
        </p:nvSpPr>
        <p:spPr>
          <a:xfrm>
            <a:off x="731520" y="4846320"/>
            <a:ext cx="233136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174" name="Text 18"/>
          <p:cNvSpPr/>
          <p:nvPr/>
        </p:nvSpPr>
        <p:spPr>
          <a:xfrm>
            <a:off x="731520" y="4892040"/>
            <a:ext cx="5482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201" strike="noStrike">
                <a:solidFill>
                  <a:srgbClr val="0d9488"/>
                </a:solidFill>
                <a:effectLst/>
                <a:uFillTx/>
                <a:latin typeface="Calibri"/>
                <a:ea typeface="Calibri"/>
              </a:rPr>
              <a:t>FIX</a:t>
            </a:r>
            <a:endParaRPr lang="fr-FR" sz="900" b="0" u="none" strike="noStrike">
              <a:solidFill>
                <a:srgbClr val="000000"/>
              </a:solidFill>
              <a:effectLst/>
              <a:uFillTx/>
              <a:latin typeface="Arial"/>
            </a:endParaRPr>
          </a:p>
        </p:txBody>
      </p:sp>
      <p:sp>
        <p:nvSpPr>
          <p:cNvPr id="175" name="Text 19"/>
          <p:cNvSpPr/>
          <p:nvPr/>
        </p:nvSpPr>
        <p:spPr>
          <a:xfrm>
            <a:off x="731520" y="512064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2b2b2b"/>
                </a:solidFill>
                <a:effectLst/>
                <a:uFillTx/>
                <a:latin typeface="Consolas"/>
                <a:ea typeface="Consolas"/>
              </a:rPr>
              <a:t>os.environ.get("SECRET_KEY")</a:t>
            </a:r>
            <a:endParaRPr lang="fr-FR" sz="1000" b="0" u="none" strike="noStrike">
              <a:solidFill>
                <a:srgbClr val="000000"/>
              </a:solidFill>
              <a:effectLst/>
              <a:uFillTx/>
              <a:latin typeface="Arial"/>
            </a:endParaRPr>
          </a:p>
        </p:txBody>
      </p:sp>
      <p:sp>
        <p:nvSpPr>
          <p:cNvPr id="176" name="Shape 20"/>
          <p:cNvSpPr/>
          <p:nvPr/>
        </p:nvSpPr>
        <p:spPr>
          <a:xfrm>
            <a:off x="3364920" y="4114800"/>
            <a:ext cx="2697120" cy="13712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177" name="Image 4" descr="preencoded.png"/>
          <p:cNvPicPr/>
          <p:nvPr/>
        </p:nvPicPr>
        <p:blipFill>
          <a:blip r:embed="rId5"/>
          <a:stretch/>
        </p:blipFill>
        <p:spPr>
          <a:xfrm>
            <a:off x="3547800" y="4297680"/>
            <a:ext cx="273960" cy="273960"/>
          </a:xfrm>
          <a:prstGeom prst="rect">
            <a:avLst/>
          </a:prstGeom>
          <a:noFill/>
          <a:ln w="0">
            <a:noFill/>
          </a:ln>
        </p:spPr>
      </p:pic>
      <p:sp>
        <p:nvSpPr>
          <p:cNvPr id="178" name="Text 21"/>
          <p:cNvSpPr/>
          <p:nvPr/>
        </p:nvSpPr>
        <p:spPr>
          <a:xfrm>
            <a:off x="3913560" y="4251960"/>
            <a:ext cx="196560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50" b="1" u="none" strike="noStrike">
                <a:solidFill>
                  <a:srgbClr val="1a1a1a"/>
                </a:solidFill>
                <a:effectLst/>
                <a:uFillTx/>
                <a:latin typeface="Calibri"/>
                <a:ea typeface="Calibri"/>
              </a:rPr>
              <a:t>No upload size limit</a:t>
            </a:r>
            <a:endParaRPr lang="fr-FR" sz="1250" b="0" u="none" strike="noStrike">
              <a:solidFill>
                <a:srgbClr val="000000"/>
              </a:solidFill>
              <a:effectLst/>
              <a:uFillTx/>
              <a:latin typeface="Arial"/>
            </a:endParaRPr>
          </a:p>
        </p:txBody>
      </p:sp>
      <p:sp>
        <p:nvSpPr>
          <p:cNvPr id="179" name="Shape 22"/>
          <p:cNvSpPr/>
          <p:nvPr/>
        </p:nvSpPr>
        <p:spPr>
          <a:xfrm>
            <a:off x="3547800" y="4846320"/>
            <a:ext cx="233136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180" name="Text 23"/>
          <p:cNvSpPr/>
          <p:nvPr/>
        </p:nvSpPr>
        <p:spPr>
          <a:xfrm>
            <a:off x="3547800" y="4892040"/>
            <a:ext cx="5482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201" strike="noStrike">
                <a:solidFill>
                  <a:srgbClr val="0d9488"/>
                </a:solidFill>
                <a:effectLst/>
                <a:uFillTx/>
                <a:latin typeface="Calibri"/>
                <a:ea typeface="Calibri"/>
              </a:rPr>
              <a:t>FIX</a:t>
            </a:r>
            <a:endParaRPr lang="fr-FR" sz="900" b="0" u="none" strike="noStrike">
              <a:solidFill>
                <a:srgbClr val="000000"/>
              </a:solidFill>
              <a:effectLst/>
              <a:uFillTx/>
              <a:latin typeface="Arial"/>
            </a:endParaRPr>
          </a:p>
        </p:txBody>
      </p:sp>
      <p:sp>
        <p:nvSpPr>
          <p:cNvPr id="181" name="Text 24"/>
          <p:cNvSpPr/>
          <p:nvPr/>
        </p:nvSpPr>
        <p:spPr>
          <a:xfrm>
            <a:off x="3547800" y="512064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2b2b2b"/>
                </a:solidFill>
                <a:effectLst/>
                <a:uFillTx/>
                <a:latin typeface="Consolas"/>
                <a:ea typeface="Consolas"/>
              </a:rPr>
              <a:t>MAX_CONTENT_LENGTH = 5 MB</a:t>
            </a:r>
            <a:endParaRPr lang="fr-FR" sz="1000" b="0" u="none" strike="noStrike">
              <a:solidFill>
                <a:srgbClr val="000000"/>
              </a:solidFill>
              <a:effectLst/>
              <a:uFillTx/>
              <a:latin typeface="Arial"/>
            </a:endParaRPr>
          </a:p>
        </p:txBody>
      </p:sp>
      <p:sp>
        <p:nvSpPr>
          <p:cNvPr id="182" name="Shape 25"/>
          <p:cNvSpPr/>
          <p:nvPr/>
        </p:nvSpPr>
        <p:spPr>
          <a:xfrm>
            <a:off x="6181200" y="4114800"/>
            <a:ext cx="2697120" cy="13712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183" name="Image 5" descr="preencoded.png"/>
          <p:cNvPicPr/>
          <p:nvPr/>
        </p:nvPicPr>
        <p:blipFill>
          <a:blip r:embed="rId6"/>
          <a:stretch/>
        </p:blipFill>
        <p:spPr>
          <a:xfrm>
            <a:off x="6364080" y="4297680"/>
            <a:ext cx="273960" cy="273960"/>
          </a:xfrm>
          <a:prstGeom prst="rect">
            <a:avLst/>
          </a:prstGeom>
          <a:noFill/>
          <a:ln w="0">
            <a:noFill/>
          </a:ln>
        </p:spPr>
      </p:pic>
      <p:sp>
        <p:nvSpPr>
          <p:cNvPr id="184" name="Text 26"/>
          <p:cNvSpPr/>
          <p:nvPr/>
        </p:nvSpPr>
        <p:spPr>
          <a:xfrm>
            <a:off x="6729840" y="4251960"/>
            <a:ext cx="196560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50" b="1" u="none" strike="noStrike">
                <a:solidFill>
                  <a:srgbClr val="1a1a1a"/>
                </a:solidFill>
                <a:effectLst/>
                <a:uFillTx/>
                <a:latin typeface="Calibri"/>
                <a:ea typeface="Calibri"/>
              </a:rPr>
              <a:t>XSS in filename display</a:t>
            </a:r>
            <a:endParaRPr lang="fr-FR" sz="1250" b="0" u="none" strike="noStrike">
              <a:solidFill>
                <a:srgbClr val="000000"/>
              </a:solidFill>
              <a:effectLst/>
              <a:uFillTx/>
              <a:latin typeface="Arial"/>
            </a:endParaRPr>
          </a:p>
        </p:txBody>
      </p:sp>
      <p:sp>
        <p:nvSpPr>
          <p:cNvPr id="185" name="Shape 27"/>
          <p:cNvSpPr/>
          <p:nvPr/>
        </p:nvSpPr>
        <p:spPr>
          <a:xfrm>
            <a:off x="6364080" y="4846320"/>
            <a:ext cx="233136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186" name="Text 28"/>
          <p:cNvSpPr/>
          <p:nvPr/>
        </p:nvSpPr>
        <p:spPr>
          <a:xfrm>
            <a:off x="6364080" y="4892040"/>
            <a:ext cx="5482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201" strike="noStrike">
                <a:solidFill>
                  <a:srgbClr val="0d9488"/>
                </a:solidFill>
                <a:effectLst/>
                <a:uFillTx/>
                <a:latin typeface="Calibri"/>
                <a:ea typeface="Calibri"/>
              </a:rPr>
              <a:t>FIX</a:t>
            </a:r>
            <a:endParaRPr lang="fr-FR" sz="900" b="0" u="none" strike="noStrike">
              <a:solidFill>
                <a:srgbClr val="000000"/>
              </a:solidFill>
              <a:effectLst/>
              <a:uFillTx/>
              <a:latin typeface="Arial"/>
            </a:endParaRPr>
          </a:p>
        </p:txBody>
      </p:sp>
      <p:sp>
        <p:nvSpPr>
          <p:cNvPr id="187" name="Text 29"/>
          <p:cNvSpPr/>
          <p:nvPr/>
        </p:nvSpPr>
        <p:spPr>
          <a:xfrm>
            <a:off x="6364080" y="512064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2b2b2b"/>
                </a:solidFill>
                <a:effectLst/>
                <a:uFillTx/>
                <a:latin typeface="Consolas"/>
                <a:ea typeface="Consolas"/>
              </a:rPr>
              <a:t>escHtml() on user strings</a:t>
            </a:r>
            <a:endParaRPr lang="fr-FR" sz="1000" b="0" u="none" strike="noStrike">
              <a:solidFill>
                <a:srgbClr val="000000"/>
              </a:solidFill>
              <a:effectLst/>
              <a:uFillTx/>
              <a:latin typeface="Arial"/>
            </a:endParaRPr>
          </a:p>
        </p:txBody>
      </p:sp>
      <p:sp>
        <p:nvSpPr>
          <p:cNvPr id="188" name="Shape 30"/>
          <p:cNvSpPr/>
          <p:nvPr/>
        </p:nvSpPr>
        <p:spPr>
          <a:xfrm>
            <a:off x="8997840" y="4114800"/>
            <a:ext cx="2697120" cy="137124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189" name="Image 6" descr="preencoded.png"/>
          <p:cNvPicPr/>
          <p:nvPr/>
        </p:nvPicPr>
        <p:blipFill>
          <a:blip r:embed="rId7"/>
          <a:stretch/>
        </p:blipFill>
        <p:spPr>
          <a:xfrm>
            <a:off x="9180720" y="4297680"/>
            <a:ext cx="273960" cy="273960"/>
          </a:xfrm>
          <a:prstGeom prst="rect">
            <a:avLst/>
          </a:prstGeom>
          <a:noFill/>
          <a:ln w="0">
            <a:noFill/>
          </a:ln>
        </p:spPr>
      </p:pic>
      <p:sp>
        <p:nvSpPr>
          <p:cNvPr id="190" name="Text 31"/>
          <p:cNvSpPr/>
          <p:nvPr/>
        </p:nvSpPr>
        <p:spPr>
          <a:xfrm>
            <a:off x="9546480" y="4251960"/>
            <a:ext cx="196560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50" b="1" u="none" strike="noStrike">
                <a:solidFill>
                  <a:srgbClr val="1a1a1a"/>
                </a:solidFill>
                <a:effectLst/>
                <a:uFillTx/>
                <a:latin typeface="Calibri"/>
                <a:ea typeface="Calibri"/>
              </a:rPr>
              <a:t>Inverted retrieval flag</a:t>
            </a:r>
            <a:endParaRPr lang="fr-FR" sz="1250" b="0" u="none" strike="noStrike">
              <a:solidFill>
                <a:srgbClr val="000000"/>
              </a:solidFill>
              <a:effectLst/>
              <a:uFillTx/>
              <a:latin typeface="Arial"/>
            </a:endParaRPr>
          </a:p>
        </p:txBody>
      </p:sp>
      <p:sp>
        <p:nvSpPr>
          <p:cNvPr id="191" name="Shape 32"/>
          <p:cNvSpPr/>
          <p:nvPr/>
        </p:nvSpPr>
        <p:spPr>
          <a:xfrm>
            <a:off x="9180720" y="4846320"/>
            <a:ext cx="233136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192" name="Text 33"/>
          <p:cNvSpPr/>
          <p:nvPr/>
        </p:nvSpPr>
        <p:spPr>
          <a:xfrm>
            <a:off x="9180720" y="4892040"/>
            <a:ext cx="548280" cy="228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1" u="none" spc="201" strike="noStrike">
                <a:solidFill>
                  <a:srgbClr val="0d9488"/>
                </a:solidFill>
                <a:effectLst/>
                <a:uFillTx/>
                <a:latin typeface="Calibri"/>
                <a:ea typeface="Calibri"/>
              </a:rPr>
              <a:t>FIX</a:t>
            </a:r>
            <a:endParaRPr lang="fr-FR" sz="900" b="0" u="none" strike="noStrike">
              <a:solidFill>
                <a:srgbClr val="000000"/>
              </a:solidFill>
              <a:effectLst/>
              <a:uFillTx/>
              <a:latin typeface="Arial"/>
            </a:endParaRPr>
          </a:p>
        </p:txBody>
      </p:sp>
      <p:sp>
        <p:nvSpPr>
          <p:cNvPr id="193" name="Text 34"/>
          <p:cNvSpPr/>
          <p:nvPr/>
        </p:nvSpPr>
        <p:spPr>
          <a:xfrm>
            <a:off x="9180720" y="5120640"/>
            <a:ext cx="2331360" cy="3196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000" b="0" u="none" strike="noStrike">
                <a:solidFill>
                  <a:srgbClr val="2b2b2b"/>
                </a:solidFill>
                <a:effectLst/>
                <a:uFillTx/>
                <a:latin typeface="Consolas"/>
                <a:ea typeface="Consolas"/>
              </a:rPr>
              <a:t>Strategies were silently swapped</a:t>
            </a:r>
            <a:endParaRPr lang="fr-FR" sz="1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4"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09  ·  AI COLLABORATION</a:t>
            </a:r>
            <a:endParaRPr lang="fr-FR" sz="1100" b="0" u="none" strike="noStrike">
              <a:solidFill>
                <a:srgbClr val="000000"/>
              </a:solidFill>
              <a:effectLst/>
              <a:uFillTx/>
              <a:latin typeface="Arial"/>
            </a:endParaRPr>
          </a:p>
        </p:txBody>
      </p:sp>
      <p:sp>
        <p:nvSpPr>
          <p:cNvPr id="195"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How we worked with Copilot</a:t>
            </a:r>
            <a:endParaRPr lang="fr-FR" sz="3600" b="0" u="none" strike="noStrike">
              <a:solidFill>
                <a:srgbClr val="000000"/>
              </a:solidFill>
              <a:effectLst/>
              <a:uFillTx/>
              <a:latin typeface="Arial"/>
            </a:endParaRPr>
          </a:p>
        </p:txBody>
      </p:sp>
      <p:sp>
        <p:nvSpPr>
          <p:cNvPr id="196"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197" name="Text 3"/>
          <p:cNvSpPr/>
          <p:nvPr/>
        </p:nvSpPr>
        <p:spPr>
          <a:xfrm>
            <a:off x="548640" y="1783080"/>
            <a:ext cx="5486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1a1a1a"/>
                </a:solidFill>
                <a:effectLst/>
                <a:uFillTx/>
                <a:latin typeface="Georgia"/>
                <a:ea typeface="Georgia"/>
              </a:rPr>
              <a:t>Two modes, on a toggle</a:t>
            </a:r>
            <a:endParaRPr lang="fr-FR" sz="2000" b="0" u="none" strike="noStrike">
              <a:solidFill>
                <a:srgbClr val="000000"/>
              </a:solidFill>
              <a:effectLst/>
              <a:uFillTx/>
              <a:latin typeface="Arial"/>
            </a:endParaRPr>
          </a:p>
        </p:txBody>
      </p:sp>
      <p:sp>
        <p:nvSpPr>
          <p:cNvPr id="198" name="Shape 4"/>
          <p:cNvSpPr/>
          <p:nvPr/>
        </p:nvSpPr>
        <p:spPr>
          <a:xfrm>
            <a:off x="548640" y="2331720"/>
            <a:ext cx="5440320" cy="155412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199" name="Shape 5"/>
          <p:cNvSpPr/>
          <p:nvPr/>
        </p:nvSpPr>
        <p:spPr>
          <a:xfrm>
            <a:off x="548640" y="2331720"/>
            <a:ext cx="72720" cy="155412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00" name="Text 6"/>
          <p:cNvSpPr/>
          <p:nvPr/>
        </p:nvSpPr>
        <p:spPr>
          <a:xfrm>
            <a:off x="777240" y="2423160"/>
            <a:ext cx="5120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500" b="1" u="none" strike="noStrike">
                <a:solidFill>
                  <a:srgbClr val="1a1a1a"/>
                </a:solidFill>
                <a:effectLst/>
                <a:uFillTx/>
                <a:latin typeface="Georgia"/>
                <a:ea typeface="Georgia"/>
              </a:rPr>
              <a:t>Socratic mode</a:t>
            </a:r>
            <a:endParaRPr lang="fr-FR" sz="1500" b="0" u="none" strike="noStrike">
              <a:solidFill>
                <a:srgbClr val="000000"/>
              </a:solidFill>
              <a:effectLst/>
              <a:uFillTx/>
              <a:latin typeface="Arial"/>
            </a:endParaRPr>
          </a:p>
        </p:txBody>
      </p:sp>
      <p:sp>
        <p:nvSpPr>
          <p:cNvPr id="201" name="Text 7"/>
          <p:cNvSpPr/>
          <p:nvPr/>
        </p:nvSpPr>
        <p:spPr>
          <a:xfrm>
            <a:off x="777240" y="2788920"/>
            <a:ext cx="512028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Copilot asks questions back instead of dumping code. Used while learning a new concept.</a:t>
            </a:r>
            <a:endParaRPr lang="fr-FR" sz="1150" b="0" u="none" strike="noStrike">
              <a:solidFill>
                <a:srgbClr val="000000"/>
              </a:solidFill>
              <a:effectLst/>
              <a:uFillTx/>
              <a:latin typeface="Arial"/>
            </a:endParaRPr>
          </a:p>
        </p:txBody>
      </p:sp>
      <p:sp>
        <p:nvSpPr>
          <p:cNvPr id="202" name="Shape 8"/>
          <p:cNvSpPr/>
          <p:nvPr/>
        </p:nvSpPr>
        <p:spPr>
          <a:xfrm>
            <a:off x="548640" y="4023360"/>
            <a:ext cx="5440320" cy="155412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03" name="Shape 9"/>
          <p:cNvSpPr/>
          <p:nvPr/>
        </p:nvSpPr>
        <p:spPr>
          <a:xfrm>
            <a:off x="548640" y="4023360"/>
            <a:ext cx="72720" cy="155412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04" name="Text 10"/>
          <p:cNvSpPr/>
          <p:nvPr/>
        </p:nvSpPr>
        <p:spPr>
          <a:xfrm>
            <a:off x="777240" y="4114800"/>
            <a:ext cx="512028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500" b="1" u="none" strike="noStrike">
                <a:solidFill>
                  <a:srgbClr val="1a1a1a"/>
                </a:solidFill>
                <a:effectLst/>
                <a:uFillTx/>
                <a:latin typeface="Georgia"/>
                <a:ea typeface="Georgia"/>
              </a:rPr>
              <a:t>"Just give me the answer" mode</a:t>
            </a:r>
            <a:endParaRPr lang="fr-FR" sz="1500" b="0" u="none" strike="noStrike">
              <a:solidFill>
                <a:srgbClr val="000000"/>
              </a:solidFill>
              <a:effectLst/>
              <a:uFillTx/>
              <a:latin typeface="Arial"/>
            </a:endParaRPr>
          </a:p>
        </p:txBody>
      </p:sp>
      <p:sp>
        <p:nvSpPr>
          <p:cNvPr id="205" name="Text 11"/>
          <p:cNvSpPr/>
          <p:nvPr/>
        </p:nvSpPr>
        <p:spPr>
          <a:xfrm>
            <a:off x="777240" y="4480560"/>
            <a:ext cx="5120280" cy="10054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Toggled on during rapid implementation. Same Copilot, different .github/copilot-instructions.md.</a:t>
            </a:r>
            <a:endParaRPr lang="fr-FR" sz="1150" b="0" u="none" strike="noStrike">
              <a:solidFill>
                <a:srgbClr val="000000"/>
              </a:solidFill>
              <a:effectLst/>
              <a:uFillTx/>
              <a:latin typeface="Arial"/>
            </a:endParaRPr>
          </a:p>
        </p:txBody>
      </p:sp>
      <p:sp>
        <p:nvSpPr>
          <p:cNvPr id="206" name="Text 12"/>
          <p:cNvSpPr/>
          <p:nvPr/>
        </p:nvSpPr>
        <p:spPr>
          <a:xfrm>
            <a:off x="6172200" y="1783080"/>
            <a:ext cx="5486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000" b="1" u="none" strike="noStrike">
                <a:solidFill>
                  <a:srgbClr val="1a1a1a"/>
                </a:solidFill>
                <a:effectLst/>
                <a:uFillTx/>
                <a:latin typeface="Georgia"/>
                <a:ea typeface="Georgia"/>
              </a:rPr>
              <a:t>Three things AI got wrong</a:t>
            </a:r>
            <a:endParaRPr lang="fr-FR" sz="2000" b="0" u="none" strike="noStrike">
              <a:solidFill>
                <a:srgbClr val="000000"/>
              </a:solidFill>
              <a:effectLst/>
              <a:uFillTx/>
              <a:latin typeface="Arial"/>
            </a:endParaRPr>
          </a:p>
        </p:txBody>
      </p:sp>
      <p:sp>
        <p:nvSpPr>
          <p:cNvPr id="207" name="Shape 13"/>
          <p:cNvSpPr/>
          <p:nvPr/>
        </p:nvSpPr>
        <p:spPr>
          <a:xfrm>
            <a:off x="6172200" y="2331720"/>
            <a:ext cx="5440320" cy="10512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08" name="Image 0" descr="preencoded.png"/>
          <p:cNvPicPr/>
          <p:nvPr/>
        </p:nvPicPr>
        <p:blipFill>
          <a:blip r:embed="rId1"/>
          <a:stretch/>
        </p:blipFill>
        <p:spPr>
          <a:xfrm>
            <a:off x="6355080" y="2514600"/>
            <a:ext cx="292320" cy="292320"/>
          </a:xfrm>
          <a:prstGeom prst="rect">
            <a:avLst/>
          </a:prstGeom>
          <a:noFill/>
          <a:ln w="0">
            <a:noFill/>
          </a:ln>
        </p:spPr>
      </p:pic>
      <p:sp>
        <p:nvSpPr>
          <p:cNvPr id="209" name="Text 14"/>
          <p:cNvSpPr/>
          <p:nvPr/>
        </p:nvSpPr>
        <p:spPr>
          <a:xfrm>
            <a:off x="6766560" y="2468880"/>
            <a:ext cx="47545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00" b="1" u="none" strike="noStrike">
                <a:solidFill>
                  <a:srgbClr val="1a1a1a"/>
                </a:solidFill>
                <a:effectLst/>
                <a:uFillTx/>
                <a:latin typeface="Calibri"/>
                <a:ea typeface="Calibri"/>
              </a:rPr>
              <a:t>Deprecated model name</a:t>
            </a:r>
            <a:endParaRPr lang="fr-FR" sz="1300" b="0" u="none" strike="noStrike">
              <a:solidFill>
                <a:srgbClr val="000000"/>
              </a:solidFill>
              <a:effectLst/>
              <a:uFillTx/>
              <a:latin typeface="Arial"/>
            </a:endParaRPr>
          </a:p>
        </p:txBody>
      </p:sp>
      <p:sp>
        <p:nvSpPr>
          <p:cNvPr id="210" name="Text 15"/>
          <p:cNvSpPr/>
          <p:nvPr/>
        </p:nvSpPr>
        <p:spPr>
          <a:xfrm>
            <a:off x="6766560" y="2788920"/>
            <a:ext cx="47545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6b6b6b"/>
                </a:solidFill>
                <a:effectLst/>
                <a:uFillTx/>
                <a:latin typeface="Calibri"/>
                <a:ea typeface="Calibri"/>
              </a:rPr>
              <a:t>Copilot wrote gemini-pro. The endpoint had been renamed.</a:t>
            </a:r>
            <a:endParaRPr lang="fr-FR" sz="1100" b="0" u="none" strike="noStrike">
              <a:solidFill>
                <a:srgbClr val="000000"/>
              </a:solidFill>
              <a:effectLst/>
              <a:uFillTx/>
              <a:latin typeface="Arial"/>
            </a:endParaRPr>
          </a:p>
        </p:txBody>
      </p:sp>
      <p:sp>
        <p:nvSpPr>
          <p:cNvPr id="211" name="Shape 16"/>
          <p:cNvSpPr/>
          <p:nvPr/>
        </p:nvSpPr>
        <p:spPr>
          <a:xfrm>
            <a:off x="6172200" y="3474720"/>
            <a:ext cx="5440320" cy="10512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12" name="Image 1" descr="preencoded.png"/>
          <p:cNvPicPr/>
          <p:nvPr/>
        </p:nvPicPr>
        <p:blipFill>
          <a:blip r:embed="rId2"/>
          <a:stretch/>
        </p:blipFill>
        <p:spPr>
          <a:xfrm>
            <a:off x="6355080" y="3657600"/>
            <a:ext cx="292320" cy="292320"/>
          </a:xfrm>
          <a:prstGeom prst="rect">
            <a:avLst/>
          </a:prstGeom>
          <a:noFill/>
          <a:ln w="0">
            <a:noFill/>
          </a:ln>
        </p:spPr>
      </p:pic>
      <p:sp>
        <p:nvSpPr>
          <p:cNvPr id="213" name="Text 17"/>
          <p:cNvSpPr/>
          <p:nvPr/>
        </p:nvSpPr>
        <p:spPr>
          <a:xfrm>
            <a:off x="6766560" y="3611880"/>
            <a:ext cx="47545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00" b="1" u="none" strike="noStrike">
                <a:solidFill>
                  <a:srgbClr val="1a1a1a"/>
                </a:solidFill>
                <a:effectLst/>
                <a:uFillTx/>
                <a:latin typeface="Calibri"/>
                <a:ea typeface="Calibri"/>
              </a:rPr>
              <a:t>Fragile JSON parse</a:t>
            </a:r>
            <a:endParaRPr lang="fr-FR" sz="1300" b="0" u="none" strike="noStrike">
              <a:solidFill>
                <a:srgbClr val="000000"/>
              </a:solidFill>
              <a:effectLst/>
              <a:uFillTx/>
              <a:latin typeface="Arial"/>
            </a:endParaRPr>
          </a:p>
        </p:txBody>
      </p:sp>
      <p:sp>
        <p:nvSpPr>
          <p:cNvPr id="214" name="Text 18"/>
          <p:cNvSpPr/>
          <p:nvPr/>
        </p:nvSpPr>
        <p:spPr>
          <a:xfrm>
            <a:off x="6766560" y="3931920"/>
            <a:ext cx="47545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6b6b6b"/>
                </a:solidFill>
                <a:effectLst/>
                <a:uFillTx/>
                <a:latin typeface="Calibri"/>
                <a:ea typeface="Calibri"/>
              </a:rPr>
              <a:t>json.loads(raw) blew up the moment the model added prose.</a:t>
            </a:r>
            <a:endParaRPr lang="fr-FR" sz="1100" b="0" u="none" strike="noStrike">
              <a:solidFill>
                <a:srgbClr val="000000"/>
              </a:solidFill>
              <a:effectLst/>
              <a:uFillTx/>
              <a:latin typeface="Arial"/>
            </a:endParaRPr>
          </a:p>
        </p:txBody>
      </p:sp>
      <p:sp>
        <p:nvSpPr>
          <p:cNvPr id="215" name="Shape 19"/>
          <p:cNvSpPr/>
          <p:nvPr/>
        </p:nvSpPr>
        <p:spPr>
          <a:xfrm>
            <a:off x="6172200" y="4617720"/>
            <a:ext cx="5440320" cy="10512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16" name="Image 2" descr="preencoded.png"/>
          <p:cNvPicPr/>
          <p:nvPr/>
        </p:nvPicPr>
        <p:blipFill>
          <a:blip r:embed="rId3"/>
          <a:stretch/>
        </p:blipFill>
        <p:spPr>
          <a:xfrm>
            <a:off x="6355080" y="4800600"/>
            <a:ext cx="292320" cy="292320"/>
          </a:xfrm>
          <a:prstGeom prst="rect">
            <a:avLst/>
          </a:prstGeom>
          <a:noFill/>
          <a:ln w="0">
            <a:noFill/>
          </a:ln>
        </p:spPr>
      </p:pic>
      <p:sp>
        <p:nvSpPr>
          <p:cNvPr id="217" name="Text 20"/>
          <p:cNvSpPr/>
          <p:nvPr/>
        </p:nvSpPr>
        <p:spPr>
          <a:xfrm>
            <a:off x="6766560" y="4754880"/>
            <a:ext cx="475452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00" b="1" u="none" strike="noStrike">
                <a:solidFill>
                  <a:srgbClr val="1a1a1a"/>
                </a:solidFill>
                <a:effectLst/>
                <a:uFillTx/>
                <a:latin typeface="Calibri"/>
                <a:ea typeface="Calibri"/>
              </a:rPr>
              <a:t>Inverted strategy flag</a:t>
            </a:r>
            <a:endParaRPr lang="fr-FR" sz="1300" b="0" u="none" strike="noStrike">
              <a:solidFill>
                <a:srgbClr val="000000"/>
              </a:solidFill>
              <a:effectLst/>
              <a:uFillTx/>
              <a:latin typeface="Arial"/>
            </a:endParaRPr>
          </a:p>
        </p:txBody>
      </p:sp>
      <p:sp>
        <p:nvSpPr>
          <p:cNvPr id="218" name="Text 21"/>
          <p:cNvSpPr/>
          <p:nvPr/>
        </p:nvSpPr>
        <p:spPr>
          <a:xfrm>
            <a:off x="6766560" y="5074920"/>
            <a:ext cx="4754520" cy="5482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6b6b6b"/>
                </a:solidFill>
                <a:effectLst/>
                <a:uFillTx/>
                <a:latin typeface="Calibri"/>
                <a:ea typeface="Calibri"/>
              </a:rPr>
              <a:t>Copilot wrote the scoring with the unique flag inverted. Both strategies still returned plausible chunks, so nothing flagged the bug.</a:t>
            </a:r>
            <a:endParaRPr lang="fr-FR"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19"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10  ·  THE TEAM</a:t>
            </a:r>
            <a:endParaRPr lang="fr-FR" sz="1100" b="0" u="none" strike="noStrike">
              <a:solidFill>
                <a:srgbClr val="000000"/>
              </a:solidFill>
              <a:effectLst/>
              <a:uFillTx/>
              <a:latin typeface="Arial"/>
            </a:endParaRPr>
          </a:p>
        </p:txBody>
      </p:sp>
      <p:sp>
        <p:nvSpPr>
          <p:cNvPr id="220"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Division of work</a:t>
            </a:r>
            <a:endParaRPr lang="fr-FR" sz="3600" b="0" u="none" strike="noStrike">
              <a:solidFill>
                <a:srgbClr val="000000"/>
              </a:solidFill>
              <a:effectLst/>
              <a:uFillTx/>
              <a:latin typeface="Arial"/>
            </a:endParaRPr>
          </a:p>
        </p:txBody>
      </p:sp>
      <p:sp>
        <p:nvSpPr>
          <p:cNvPr id="221"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222" name="Shape 3"/>
          <p:cNvSpPr/>
          <p:nvPr/>
        </p:nvSpPr>
        <p:spPr>
          <a:xfrm>
            <a:off x="548640" y="1783080"/>
            <a:ext cx="5348880" cy="40230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23" name="Shape 4"/>
          <p:cNvSpPr/>
          <p:nvPr/>
        </p:nvSpPr>
        <p:spPr>
          <a:xfrm>
            <a:off x="548640" y="1783080"/>
            <a:ext cx="5348880" cy="72720"/>
          </a:xfrm>
          <a:prstGeom prst="rect">
            <a:avLst/>
          </a:prstGeom>
          <a:solidFill>
            <a:srgbClr val="0d9488"/>
          </a:solidFill>
          <a:ln w="12700">
            <a:solidFill>
              <a:srgbClr val="0d9488"/>
            </a:solidFill>
            <a:round/>
          </a:ln>
        </p:spPr>
        <p:style>
          <a:lnRef idx="0"/>
          <a:fillRef idx="0"/>
          <a:effectRef idx="0"/>
          <a:fontRef idx="minor"/>
        </p:style>
        <p:txBody>
          <a:bodyPr lIns="90000" rIns="90000" tIns="28080" bIns="28080" anchor="t">
            <a:noAutofit/>
          </a:bodyPr>
          <a:p>
            <a:endParaRPr lang="fr-FR" sz="1800" b="0" u="none" strike="noStrike">
              <a:solidFill>
                <a:srgbClr val="ffffff"/>
              </a:solidFill>
              <a:effectLst/>
              <a:uFillTx/>
              <a:latin typeface="Arial"/>
            </a:endParaRPr>
          </a:p>
        </p:txBody>
      </p:sp>
      <p:sp>
        <p:nvSpPr>
          <p:cNvPr id="224" name="Text 5"/>
          <p:cNvSpPr/>
          <p:nvPr/>
        </p:nvSpPr>
        <p:spPr>
          <a:xfrm>
            <a:off x="822960" y="1965960"/>
            <a:ext cx="48459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200" b="1" u="none" strike="noStrike">
                <a:solidFill>
                  <a:srgbClr val="1a1a1a"/>
                </a:solidFill>
                <a:effectLst/>
                <a:uFillTx/>
                <a:latin typeface="Georgia"/>
                <a:ea typeface="Georgia"/>
              </a:rPr>
              <a:t>Youssef Kang</a:t>
            </a:r>
            <a:endParaRPr lang="fr-FR" sz="2200" b="0" u="none" strike="noStrike">
              <a:solidFill>
                <a:srgbClr val="000000"/>
              </a:solidFill>
              <a:effectLst/>
              <a:uFillTx/>
              <a:latin typeface="Arial"/>
            </a:endParaRPr>
          </a:p>
        </p:txBody>
      </p:sp>
      <p:sp>
        <p:nvSpPr>
          <p:cNvPr id="225" name="Text 6"/>
          <p:cNvSpPr/>
          <p:nvPr/>
        </p:nvSpPr>
        <p:spPr>
          <a:xfrm>
            <a:off x="822960" y="2468880"/>
            <a:ext cx="48459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0d9488"/>
                </a:solidFill>
                <a:effectLst/>
                <a:uFillTx/>
                <a:latin typeface="Calibri"/>
                <a:ea typeface="Calibri"/>
              </a:rPr>
              <a:t>youssef.kang@epita.fr</a:t>
            </a:r>
            <a:endParaRPr lang="fr-FR" sz="1100" b="0" u="none" strike="noStrike">
              <a:solidFill>
                <a:srgbClr val="000000"/>
              </a:solidFill>
              <a:effectLst/>
              <a:uFillTx/>
              <a:latin typeface="Arial"/>
            </a:endParaRPr>
          </a:p>
          <a:p>
            <a:pPr defTabSz="914400">
              <a:lnSpc>
                <a:spcPct val="100000"/>
              </a:lnSpc>
              <a:tabLst>
                <a:tab algn="l" pos="0"/>
              </a:tabLst>
            </a:pPr>
            <a:r>
              <a:rPr lang="en-US" sz="1100" b="0" u="none" strike="noStrike">
                <a:solidFill>
                  <a:srgbClr val="6b6b6b"/>
                </a:solidFill>
                <a:effectLst/>
                <a:uFillTx/>
                <a:latin typeface="Calibri"/>
                <a:ea typeface="Calibri"/>
              </a:rPr>
              <a:t>github · kangyoussef95-max</a:t>
            </a:r>
            <a:endParaRPr lang="fr-FR" sz="1100" b="0" u="none" strike="noStrike">
              <a:solidFill>
                <a:srgbClr val="000000"/>
              </a:solidFill>
              <a:effectLst/>
              <a:uFillTx/>
              <a:latin typeface="Arial"/>
            </a:endParaRPr>
          </a:p>
        </p:txBody>
      </p:sp>
      <p:sp>
        <p:nvSpPr>
          <p:cNvPr id="226" name="Shape 7"/>
          <p:cNvSpPr/>
          <p:nvPr/>
        </p:nvSpPr>
        <p:spPr>
          <a:xfrm>
            <a:off x="822960" y="3200400"/>
            <a:ext cx="484596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227" name="Text 8"/>
          <p:cNvSpPr/>
          <p:nvPr/>
        </p:nvSpPr>
        <p:spPr>
          <a:xfrm>
            <a:off x="822960" y="3291840"/>
            <a:ext cx="48459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i="1" u="none" strike="noStrike">
                <a:solidFill>
                  <a:srgbClr val="1a1a1a"/>
                </a:solidFill>
                <a:effectLst/>
                <a:uFillTx/>
                <a:latin typeface="Calibri"/>
                <a:ea typeface="Calibri"/>
              </a:rPr>
              <a:t>Backend, retrieval, AI integration, frontend</a:t>
            </a:r>
            <a:endParaRPr lang="fr-FR" sz="1200" b="0" u="none" strike="noStrike">
              <a:solidFill>
                <a:srgbClr val="000000"/>
              </a:solidFill>
              <a:effectLst/>
              <a:uFillTx/>
              <a:latin typeface="Arial"/>
            </a:endParaRPr>
          </a:p>
        </p:txBody>
      </p:sp>
      <p:sp>
        <p:nvSpPr>
          <p:cNvPr id="228" name="Text 9"/>
          <p:cNvSpPr/>
          <p:nvPr/>
        </p:nvSpPr>
        <p:spPr>
          <a:xfrm>
            <a:off x="822960" y="3794760"/>
            <a:ext cx="4845960" cy="191988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app.py  ·  Flask routes and database schema</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RAG pipeline  ·  chunking and both retrieval strategies</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Groq integration  ·  call_ai, generate_artifact</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templates/index.html  ·  chat, upload, settings UI</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Prompt drafting for the four artifact types</a:t>
            </a:r>
            <a:endParaRPr lang="fr-FR" sz="1150" b="0" u="none" strike="noStrike">
              <a:solidFill>
                <a:srgbClr val="000000"/>
              </a:solidFill>
              <a:effectLst/>
              <a:uFillTx/>
              <a:latin typeface="Arial"/>
            </a:endParaRPr>
          </a:p>
        </p:txBody>
      </p:sp>
      <p:sp>
        <p:nvSpPr>
          <p:cNvPr id="229" name="Shape 10"/>
          <p:cNvSpPr/>
          <p:nvPr/>
        </p:nvSpPr>
        <p:spPr>
          <a:xfrm>
            <a:off x="6263640" y="1783080"/>
            <a:ext cx="5348880" cy="402300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30" name="Shape 11"/>
          <p:cNvSpPr/>
          <p:nvPr/>
        </p:nvSpPr>
        <p:spPr>
          <a:xfrm>
            <a:off x="6263640" y="1783080"/>
            <a:ext cx="5348880" cy="72720"/>
          </a:xfrm>
          <a:prstGeom prst="rect">
            <a:avLst/>
          </a:prstGeom>
          <a:solidFill>
            <a:srgbClr val="0d9488"/>
          </a:solidFill>
          <a:ln w="12700">
            <a:solidFill>
              <a:srgbClr val="0d9488"/>
            </a:solidFill>
            <a:round/>
          </a:ln>
        </p:spPr>
        <p:style>
          <a:lnRef idx="0"/>
          <a:fillRef idx="0"/>
          <a:effectRef idx="0"/>
          <a:fontRef idx="minor"/>
        </p:style>
        <p:txBody>
          <a:bodyPr lIns="90000" rIns="90000" tIns="28080" bIns="28080" anchor="t">
            <a:noAutofit/>
          </a:bodyPr>
          <a:p>
            <a:endParaRPr lang="fr-FR" sz="1800" b="0" u="none" strike="noStrike">
              <a:solidFill>
                <a:srgbClr val="ffffff"/>
              </a:solidFill>
              <a:effectLst/>
              <a:uFillTx/>
              <a:latin typeface="Arial"/>
            </a:endParaRPr>
          </a:p>
        </p:txBody>
      </p:sp>
      <p:sp>
        <p:nvSpPr>
          <p:cNvPr id="231" name="Text 12"/>
          <p:cNvSpPr/>
          <p:nvPr/>
        </p:nvSpPr>
        <p:spPr>
          <a:xfrm>
            <a:off x="6537960" y="1965960"/>
            <a:ext cx="4845960" cy="5025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2200" b="1" u="none" strike="noStrike">
                <a:solidFill>
                  <a:srgbClr val="1a1a1a"/>
                </a:solidFill>
                <a:effectLst/>
                <a:uFillTx/>
                <a:latin typeface="Georgia"/>
                <a:ea typeface="Georgia"/>
              </a:rPr>
              <a:t>Quang Phuc Hoang</a:t>
            </a:r>
            <a:endParaRPr lang="fr-FR" sz="2200" b="0" u="none" strike="noStrike">
              <a:solidFill>
                <a:srgbClr val="000000"/>
              </a:solidFill>
              <a:effectLst/>
              <a:uFillTx/>
              <a:latin typeface="Arial"/>
            </a:endParaRPr>
          </a:p>
        </p:txBody>
      </p:sp>
      <p:sp>
        <p:nvSpPr>
          <p:cNvPr id="232" name="Text 13"/>
          <p:cNvSpPr/>
          <p:nvPr/>
        </p:nvSpPr>
        <p:spPr>
          <a:xfrm>
            <a:off x="6537960" y="2468880"/>
            <a:ext cx="4845960" cy="6397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0" u="none" strike="noStrike">
                <a:solidFill>
                  <a:srgbClr val="0d9488"/>
                </a:solidFill>
                <a:effectLst/>
                <a:uFillTx/>
                <a:latin typeface="Calibri"/>
                <a:ea typeface="Calibri"/>
              </a:rPr>
              <a:t>quang-phuc.hoang@epita.fr</a:t>
            </a:r>
            <a:endParaRPr lang="fr-FR" sz="1100" b="0" u="none" strike="noStrike">
              <a:solidFill>
                <a:srgbClr val="000000"/>
              </a:solidFill>
              <a:effectLst/>
              <a:uFillTx/>
              <a:latin typeface="Arial"/>
            </a:endParaRPr>
          </a:p>
          <a:p>
            <a:pPr defTabSz="914400">
              <a:lnSpc>
                <a:spcPct val="100000"/>
              </a:lnSpc>
              <a:tabLst>
                <a:tab algn="l" pos="0"/>
              </a:tabLst>
            </a:pPr>
            <a:r>
              <a:rPr lang="en-US" sz="1100" b="0" u="none" strike="noStrike">
                <a:solidFill>
                  <a:srgbClr val="6b6b6b"/>
                </a:solidFill>
                <a:effectLst/>
                <a:uFillTx/>
                <a:latin typeface="Calibri"/>
                <a:ea typeface="Calibri"/>
              </a:rPr>
              <a:t>github · GaudiumX</a:t>
            </a:r>
            <a:endParaRPr lang="fr-FR" sz="1100" b="0" u="none" strike="noStrike">
              <a:solidFill>
                <a:srgbClr val="000000"/>
              </a:solidFill>
              <a:effectLst/>
              <a:uFillTx/>
              <a:latin typeface="Arial"/>
            </a:endParaRPr>
          </a:p>
        </p:txBody>
      </p:sp>
      <p:sp>
        <p:nvSpPr>
          <p:cNvPr id="233" name="Shape 14"/>
          <p:cNvSpPr/>
          <p:nvPr/>
        </p:nvSpPr>
        <p:spPr>
          <a:xfrm>
            <a:off x="6537960" y="3200400"/>
            <a:ext cx="4845960" cy="18000"/>
          </a:xfrm>
          <a:prstGeom prst="rect">
            <a:avLst/>
          </a:prstGeom>
          <a:solidFill>
            <a:srgbClr val="e5e5e5"/>
          </a:solidFill>
          <a:ln w="12700">
            <a:solidFill>
              <a:srgbClr val="e5e5e5"/>
            </a:solidFill>
            <a:round/>
          </a:ln>
        </p:spPr>
        <p:style>
          <a:lnRef idx="0"/>
          <a:fillRef idx="0"/>
          <a:effectRef idx="0"/>
          <a:fontRef idx="minor"/>
        </p:style>
        <p:txBody>
          <a:bodyPr lIns="90000" rIns="90000" tIns="-26640" bIns="-26640" anchor="t">
            <a:noAutofit/>
          </a:bodyPr>
          <a:p>
            <a:endParaRPr lang="fr-FR" sz="1800" b="0" u="none" strike="noStrike">
              <a:solidFill>
                <a:srgbClr val="000000"/>
              </a:solidFill>
              <a:effectLst/>
              <a:uFillTx/>
              <a:latin typeface="Arial"/>
            </a:endParaRPr>
          </a:p>
        </p:txBody>
      </p:sp>
      <p:sp>
        <p:nvSpPr>
          <p:cNvPr id="234" name="Text 15"/>
          <p:cNvSpPr/>
          <p:nvPr/>
        </p:nvSpPr>
        <p:spPr>
          <a:xfrm>
            <a:off x="6537960" y="3291840"/>
            <a:ext cx="484596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200" b="0" i="1" u="none" strike="noStrike">
                <a:solidFill>
                  <a:srgbClr val="1a1a1a"/>
                </a:solidFill>
                <a:effectLst/>
                <a:uFillTx/>
                <a:latin typeface="Calibri"/>
                <a:ea typeface="Calibri"/>
              </a:rPr>
              <a:t>Prompt iteration, testing, documentation</a:t>
            </a:r>
            <a:endParaRPr lang="fr-FR" sz="1200" b="0" u="none" strike="noStrike">
              <a:solidFill>
                <a:srgbClr val="000000"/>
              </a:solidFill>
              <a:effectLst/>
              <a:uFillTx/>
              <a:latin typeface="Arial"/>
            </a:endParaRPr>
          </a:p>
        </p:txBody>
      </p:sp>
      <p:sp>
        <p:nvSpPr>
          <p:cNvPr id="235" name="Text 16"/>
          <p:cNvSpPr/>
          <p:nvPr/>
        </p:nvSpPr>
        <p:spPr>
          <a:xfrm>
            <a:off x="6537960" y="3794760"/>
            <a:ext cx="4845960" cy="1919880"/>
          </a:xfrm>
          <a:prstGeom prst="rect">
            <a:avLst/>
          </a:prstGeom>
          <a:noFill/>
          <a:ln w="0">
            <a:noFill/>
          </a:ln>
        </p:spPr>
        <p:style>
          <a:lnRef idx="0"/>
          <a:fillRef idx="0"/>
          <a:effectRef idx="0"/>
          <a:fontRef idx="minor"/>
        </p:style>
        <p:txBody>
          <a:bodyPr lIns="90000" rIns="90000" tIns="45000" bIns="45000" anchor="ctr">
            <a:noAutofit/>
          </a:bodyPr>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Prompt iteration  ·  v1 to v3 for flashcards and quiz</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Manual testing across all four artifact types</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Security review  ·  XSS, SECRET_KEY, upload limit</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REPORT.md  ·  decisions and failures sections</a:t>
            </a:r>
            <a:endParaRPr lang="fr-FR" sz="1150" b="0" u="none" strike="noStrike">
              <a:solidFill>
                <a:srgbClr val="000000"/>
              </a:solidFill>
              <a:effectLst/>
              <a:uFillTx/>
              <a:latin typeface="Arial"/>
            </a:endParaRPr>
          </a:p>
          <a:p>
            <a:pPr marL="343080" indent="-343080" defTabSz="914400">
              <a:lnSpc>
                <a:spcPct val="100000"/>
              </a:lnSpc>
              <a:spcAft>
                <a:spcPts val="400"/>
              </a:spcAft>
              <a:buClr>
                <a:srgbClr val="2b2b2b"/>
              </a:buClr>
              <a:buFont typeface="Symbol" charset="2"/>
              <a:buChar char=""/>
            </a:pPr>
            <a:r>
              <a:rPr lang="en-US" sz="1150" b="0" u="none" strike="noStrike">
                <a:solidFill>
                  <a:srgbClr val="2b2b2b"/>
                </a:solidFill>
                <a:effectLst/>
                <a:uFillTx/>
                <a:latin typeface="Calibri"/>
                <a:ea typeface="Calibri"/>
              </a:rPr>
              <a:t>Repository hygiene  ·  Copilot config, .gitignore, README</a:t>
            </a:r>
            <a:endParaRPr lang="fr-FR" sz="1150" b="0" u="none" strike="noStrike">
              <a:solidFill>
                <a:srgbClr val="000000"/>
              </a:solidFill>
              <a:effectLst/>
              <a:uFillTx/>
              <a:latin typeface="Arial"/>
            </a:endParaRPr>
          </a:p>
        </p:txBody>
      </p:sp>
      <p:sp>
        <p:nvSpPr>
          <p:cNvPr id="236" name="Text 17"/>
          <p:cNvSpPr/>
          <p:nvPr/>
        </p:nvSpPr>
        <p:spPr>
          <a:xfrm>
            <a:off x="548640" y="5989320"/>
            <a:ext cx="11063880" cy="365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lang="en-US" sz="1200" b="0" i="1" u="none" strike="noStrike">
                <a:solidFill>
                  <a:srgbClr val="6b6b6b"/>
                </a:solidFill>
                <a:effectLst/>
                <a:uFillTx/>
                <a:latin typeface="Calibri"/>
                <a:ea typeface="Calibri"/>
              </a:rPr>
              <a:t>Development concentrated in two sessions: prototype (May 22–23) and hardening (May 26).</a:t>
            </a:r>
            <a:endParaRPr lang="fr-FR"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7"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INDIVIDUAL  ·  PART 1</a:t>
            </a:r>
            <a:endParaRPr lang="fr-FR" sz="1100" b="0" u="none" strike="noStrike">
              <a:solidFill>
                <a:srgbClr val="000000"/>
              </a:solidFill>
              <a:effectLst/>
              <a:uFillTx/>
              <a:latin typeface="Arial"/>
            </a:endParaRPr>
          </a:p>
        </p:txBody>
      </p:sp>
      <p:sp>
        <p:nvSpPr>
          <p:cNvPr id="238"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Youssef Kang</a:t>
            </a:r>
            <a:endParaRPr lang="fr-FR" sz="3600" b="0" u="none" strike="noStrike">
              <a:solidFill>
                <a:srgbClr val="000000"/>
              </a:solidFill>
              <a:effectLst/>
              <a:uFillTx/>
              <a:latin typeface="Arial"/>
            </a:endParaRPr>
          </a:p>
        </p:txBody>
      </p:sp>
      <p:sp>
        <p:nvSpPr>
          <p:cNvPr id="239"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240" name="Text 3"/>
          <p:cNvSpPr/>
          <p:nvPr/>
        </p:nvSpPr>
        <p:spPr>
          <a:xfrm>
            <a:off x="548640" y="1783080"/>
            <a:ext cx="1106388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i="1" u="none" strike="noStrike">
                <a:solidFill>
                  <a:srgbClr val="0d9488"/>
                </a:solidFill>
                <a:effectLst/>
                <a:uFillTx/>
                <a:latin typeface="Calibri"/>
                <a:ea typeface="Calibri"/>
              </a:rPr>
              <a:t>Backend, retrieval pipeline, AI integration, frontend.</a:t>
            </a:r>
            <a:endParaRPr lang="fr-FR" sz="1600" b="0" u="none" strike="noStrike">
              <a:solidFill>
                <a:srgbClr val="000000"/>
              </a:solidFill>
              <a:effectLst/>
              <a:uFillTx/>
              <a:latin typeface="Arial"/>
            </a:endParaRPr>
          </a:p>
        </p:txBody>
      </p:sp>
      <p:sp>
        <p:nvSpPr>
          <p:cNvPr id="241" name="Shape 4"/>
          <p:cNvSpPr/>
          <p:nvPr/>
        </p:nvSpPr>
        <p:spPr>
          <a:xfrm>
            <a:off x="548640" y="23317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42" name="Shape 5"/>
          <p:cNvSpPr/>
          <p:nvPr/>
        </p:nvSpPr>
        <p:spPr>
          <a:xfrm>
            <a:off x="548640" y="23317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43" name="Text 6"/>
          <p:cNvSpPr/>
          <p:nvPr/>
        </p:nvSpPr>
        <p:spPr>
          <a:xfrm>
            <a:off x="822960" y="25146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What I built</a:t>
            </a:r>
            <a:endParaRPr lang="fr-FR" sz="1700" b="0" u="none" strike="noStrike">
              <a:solidFill>
                <a:srgbClr val="000000"/>
              </a:solidFill>
              <a:effectLst/>
              <a:uFillTx/>
              <a:latin typeface="Arial"/>
            </a:endParaRPr>
          </a:p>
        </p:txBody>
      </p:sp>
      <p:sp>
        <p:nvSpPr>
          <p:cNvPr id="244" name="Text 7"/>
          <p:cNvSpPr/>
          <p:nvPr/>
        </p:nvSpPr>
        <p:spPr>
          <a:xfrm>
            <a:off x="822960" y="29718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The entire app.py file: every Flask route, the SQLite schema (documents, artifacts, usage), the PDF text extraction with PyMuPDF, and the call_ai wrapper around the Groq client. Also the whole templates/index.html: upload form, document toggle list, chat panel, settings sliders, and the artifact viewers.</a:t>
            </a:r>
            <a:endParaRPr lang="fr-FR" sz="1150" b="0" u="none" strike="noStrike">
              <a:solidFill>
                <a:srgbClr val="000000"/>
              </a:solidFill>
              <a:effectLst/>
              <a:uFillTx/>
              <a:latin typeface="Arial"/>
            </a:endParaRPr>
          </a:p>
        </p:txBody>
      </p:sp>
      <p:sp>
        <p:nvSpPr>
          <p:cNvPr id="245" name="Shape 8"/>
          <p:cNvSpPr/>
          <p:nvPr/>
        </p:nvSpPr>
        <p:spPr>
          <a:xfrm>
            <a:off x="6172200" y="23317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46" name="Shape 9"/>
          <p:cNvSpPr/>
          <p:nvPr/>
        </p:nvSpPr>
        <p:spPr>
          <a:xfrm>
            <a:off x="6172200" y="23317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47" name="Text 10"/>
          <p:cNvSpPr/>
          <p:nvPr/>
        </p:nvSpPr>
        <p:spPr>
          <a:xfrm>
            <a:off x="6446520" y="25146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The retrieval code</a:t>
            </a:r>
            <a:endParaRPr lang="fr-FR" sz="1700" b="0" u="none" strike="noStrike">
              <a:solidFill>
                <a:srgbClr val="000000"/>
              </a:solidFill>
              <a:effectLst/>
              <a:uFillTx/>
              <a:latin typeface="Arial"/>
            </a:endParaRPr>
          </a:p>
        </p:txBody>
      </p:sp>
      <p:sp>
        <p:nvSpPr>
          <p:cNvPr id="248" name="Text 11"/>
          <p:cNvSpPr/>
          <p:nvPr/>
        </p:nvSpPr>
        <p:spPr>
          <a:xfrm>
            <a:off x="6446520" y="29718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Wrote chunk_text to split documents into overlapping chunks. Wrote _top_chunks with both scoring strategies behind one interface. The two strategies share the same input and output shape so the UI can swap them with a radio button.</a:t>
            </a:r>
            <a:endParaRPr lang="fr-FR" sz="1150" b="0" u="none" strike="noStrike">
              <a:solidFill>
                <a:srgbClr val="000000"/>
              </a:solidFill>
              <a:effectLst/>
              <a:uFillTx/>
              <a:latin typeface="Arial"/>
            </a:endParaRPr>
          </a:p>
        </p:txBody>
      </p:sp>
      <p:sp>
        <p:nvSpPr>
          <p:cNvPr id="249" name="Shape 12"/>
          <p:cNvSpPr/>
          <p:nvPr/>
        </p:nvSpPr>
        <p:spPr>
          <a:xfrm>
            <a:off x="548640" y="43891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50" name="Shape 13"/>
          <p:cNvSpPr/>
          <p:nvPr/>
        </p:nvSpPr>
        <p:spPr>
          <a:xfrm>
            <a:off x="548640" y="43891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51" name="Text 14"/>
          <p:cNvSpPr/>
          <p:nvPr/>
        </p:nvSpPr>
        <p:spPr>
          <a:xfrm>
            <a:off x="822960" y="45720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What was hard</a:t>
            </a:r>
            <a:endParaRPr lang="fr-FR" sz="1700" b="0" u="none" strike="noStrike">
              <a:solidFill>
                <a:srgbClr val="000000"/>
              </a:solidFill>
              <a:effectLst/>
              <a:uFillTx/>
              <a:latin typeface="Arial"/>
            </a:endParaRPr>
          </a:p>
        </p:txBody>
      </p:sp>
      <p:sp>
        <p:nvSpPr>
          <p:cNvPr id="252" name="Text 15"/>
          <p:cNvSpPr/>
          <p:nvPr/>
        </p:nvSpPr>
        <p:spPr>
          <a:xfrm>
            <a:off x="822960" y="50292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Making the Gemini-to-Groq swap without breaking every artifact route. Kept the call_ai(system, user, workflow, temperature) signature identical so the four artifact functions did not need to change. Only the body of call_ai was rewritten.</a:t>
            </a:r>
            <a:endParaRPr lang="fr-FR" sz="1150" b="0" u="none" strike="noStrike">
              <a:solidFill>
                <a:srgbClr val="000000"/>
              </a:solidFill>
              <a:effectLst/>
              <a:uFillTx/>
              <a:latin typeface="Arial"/>
            </a:endParaRPr>
          </a:p>
        </p:txBody>
      </p:sp>
      <p:sp>
        <p:nvSpPr>
          <p:cNvPr id="253" name="Shape 16"/>
          <p:cNvSpPr/>
          <p:nvPr/>
        </p:nvSpPr>
        <p:spPr>
          <a:xfrm>
            <a:off x="6172200" y="43891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54" name="Shape 17"/>
          <p:cNvSpPr/>
          <p:nvPr/>
        </p:nvSpPr>
        <p:spPr>
          <a:xfrm>
            <a:off x="6172200" y="43891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55" name="Text 18"/>
          <p:cNvSpPr/>
          <p:nvPr/>
        </p:nvSpPr>
        <p:spPr>
          <a:xfrm>
            <a:off x="6446520" y="45720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What I would change</a:t>
            </a:r>
            <a:endParaRPr lang="fr-FR" sz="1700" b="0" u="none" strike="noStrike">
              <a:solidFill>
                <a:srgbClr val="000000"/>
              </a:solidFill>
              <a:effectLst/>
              <a:uFillTx/>
              <a:latin typeface="Arial"/>
            </a:endParaRPr>
          </a:p>
        </p:txBody>
      </p:sp>
      <p:sp>
        <p:nvSpPr>
          <p:cNvPr id="256" name="Text 19"/>
          <p:cNvSpPr/>
          <p:nvPr/>
        </p:nvSpPr>
        <p:spPr>
          <a:xfrm>
            <a:off x="6446520" y="50292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Split app.py into modules. At 380 lines it is still readable, but I caught myself scrolling. A retrieval.py, an ai.py, and a db.py would have made the file structure tell the story of the system.</a:t>
            </a:r>
            <a:endParaRPr lang="fr-FR"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57"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INDIVIDUAL  ·  PART 2</a:t>
            </a:r>
            <a:endParaRPr lang="fr-FR" sz="1100" b="0" u="none" strike="noStrike">
              <a:solidFill>
                <a:srgbClr val="000000"/>
              </a:solidFill>
              <a:effectLst/>
              <a:uFillTx/>
              <a:latin typeface="Arial"/>
            </a:endParaRPr>
          </a:p>
        </p:txBody>
      </p:sp>
      <p:sp>
        <p:nvSpPr>
          <p:cNvPr id="258"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Quang Phuc Hoang</a:t>
            </a:r>
            <a:endParaRPr lang="fr-FR" sz="3600" b="0" u="none" strike="noStrike">
              <a:solidFill>
                <a:srgbClr val="000000"/>
              </a:solidFill>
              <a:effectLst/>
              <a:uFillTx/>
              <a:latin typeface="Arial"/>
            </a:endParaRPr>
          </a:p>
        </p:txBody>
      </p:sp>
      <p:sp>
        <p:nvSpPr>
          <p:cNvPr id="259"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260" name="Text 3"/>
          <p:cNvSpPr/>
          <p:nvPr/>
        </p:nvSpPr>
        <p:spPr>
          <a:xfrm>
            <a:off x="548640" y="1783080"/>
            <a:ext cx="1106388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i="1" u="none" strike="noStrike">
                <a:solidFill>
                  <a:srgbClr val="0d9488"/>
                </a:solidFill>
                <a:effectLst/>
                <a:uFillTx/>
                <a:latin typeface="Calibri"/>
                <a:ea typeface="Calibri"/>
              </a:rPr>
              <a:t>Prompt iteration, manual testing, security review, documentation.</a:t>
            </a:r>
            <a:endParaRPr lang="fr-FR" sz="1600" b="0" u="none" strike="noStrike">
              <a:solidFill>
                <a:srgbClr val="000000"/>
              </a:solidFill>
              <a:effectLst/>
              <a:uFillTx/>
              <a:latin typeface="Arial"/>
            </a:endParaRPr>
          </a:p>
        </p:txBody>
      </p:sp>
      <p:sp>
        <p:nvSpPr>
          <p:cNvPr id="261" name="Shape 4"/>
          <p:cNvSpPr/>
          <p:nvPr/>
        </p:nvSpPr>
        <p:spPr>
          <a:xfrm>
            <a:off x="548640" y="23317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62" name="Shape 5"/>
          <p:cNvSpPr/>
          <p:nvPr/>
        </p:nvSpPr>
        <p:spPr>
          <a:xfrm>
            <a:off x="548640" y="23317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63" name="Text 6"/>
          <p:cNvSpPr/>
          <p:nvPr/>
        </p:nvSpPr>
        <p:spPr>
          <a:xfrm>
            <a:off x="822960" y="25146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What I built</a:t>
            </a:r>
            <a:endParaRPr lang="fr-FR" sz="1700" b="0" u="none" strike="noStrike">
              <a:solidFill>
                <a:srgbClr val="000000"/>
              </a:solidFill>
              <a:effectLst/>
              <a:uFillTx/>
              <a:latin typeface="Arial"/>
            </a:endParaRPr>
          </a:p>
        </p:txBody>
      </p:sp>
      <p:sp>
        <p:nvSpPr>
          <p:cNvPr id="264" name="Text 7"/>
          <p:cNvSpPr/>
          <p:nvPr/>
        </p:nvSpPr>
        <p:spPr>
          <a:xfrm>
            <a:off x="822960" y="29718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Took the artifact prompts through three rounds of iteration to get reliable JSON from llama-3.3-70b. Added the bracket-slicing parser fallback so the app stays stable even when the model adds prose. Ran manual tests across all four artifact types with three sample corpora.</a:t>
            </a:r>
            <a:endParaRPr lang="fr-FR" sz="1150" b="0" u="none" strike="noStrike">
              <a:solidFill>
                <a:srgbClr val="000000"/>
              </a:solidFill>
              <a:effectLst/>
              <a:uFillTx/>
              <a:latin typeface="Arial"/>
            </a:endParaRPr>
          </a:p>
        </p:txBody>
      </p:sp>
      <p:sp>
        <p:nvSpPr>
          <p:cNvPr id="265" name="Shape 8"/>
          <p:cNvSpPr/>
          <p:nvPr/>
        </p:nvSpPr>
        <p:spPr>
          <a:xfrm>
            <a:off x="6172200" y="23317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66" name="Shape 9"/>
          <p:cNvSpPr/>
          <p:nvPr/>
        </p:nvSpPr>
        <p:spPr>
          <a:xfrm>
            <a:off x="6172200" y="23317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67" name="Text 10"/>
          <p:cNvSpPr/>
          <p:nvPr/>
        </p:nvSpPr>
        <p:spPr>
          <a:xfrm>
            <a:off x="6446520" y="25146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Security review session</a:t>
            </a:r>
            <a:endParaRPr lang="fr-FR" sz="1700" b="0" u="none" strike="noStrike">
              <a:solidFill>
                <a:srgbClr val="000000"/>
              </a:solidFill>
              <a:effectLst/>
              <a:uFillTx/>
              <a:latin typeface="Arial"/>
            </a:endParaRPr>
          </a:p>
        </p:txBody>
      </p:sp>
      <p:sp>
        <p:nvSpPr>
          <p:cNvPr id="268" name="Text 11"/>
          <p:cNvSpPr/>
          <p:nvPr/>
        </p:nvSpPr>
        <p:spPr>
          <a:xfrm>
            <a:off x="6446520" y="29718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Ran a focused code review on May 26. Found four issues: hardcoded SECRET_KEY, no upload size limit, XSS in filename rendering, and the inverted retrieval flag. All four fixed in the same session.</a:t>
            </a:r>
            <a:endParaRPr lang="fr-FR" sz="1150" b="0" u="none" strike="noStrike">
              <a:solidFill>
                <a:srgbClr val="000000"/>
              </a:solidFill>
              <a:effectLst/>
              <a:uFillTx/>
              <a:latin typeface="Arial"/>
            </a:endParaRPr>
          </a:p>
        </p:txBody>
      </p:sp>
      <p:sp>
        <p:nvSpPr>
          <p:cNvPr id="269" name="Shape 12"/>
          <p:cNvSpPr/>
          <p:nvPr/>
        </p:nvSpPr>
        <p:spPr>
          <a:xfrm>
            <a:off x="548640" y="43891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70" name="Shape 13"/>
          <p:cNvSpPr/>
          <p:nvPr/>
        </p:nvSpPr>
        <p:spPr>
          <a:xfrm>
            <a:off x="548640" y="43891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71" name="Text 14"/>
          <p:cNvSpPr/>
          <p:nvPr/>
        </p:nvSpPr>
        <p:spPr>
          <a:xfrm>
            <a:off x="822960" y="45720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What was hard</a:t>
            </a:r>
            <a:endParaRPr lang="fr-FR" sz="1700" b="0" u="none" strike="noStrike">
              <a:solidFill>
                <a:srgbClr val="000000"/>
              </a:solidFill>
              <a:effectLst/>
              <a:uFillTx/>
              <a:latin typeface="Arial"/>
            </a:endParaRPr>
          </a:p>
        </p:txBody>
      </p:sp>
      <p:sp>
        <p:nvSpPr>
          <p:cNvPr id="272" name="Text 15"/>
          <p:cNvSpPr/>
          <p:nvPr/>
        </p:nvSpPr>
        <p:spPr>
          <a:xfrm>
            <a:off x="822960" y="50292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Finding the inverted retrieval flag. It produced plausible output on both settings, so nothing crashed. Caught it only by running identical queries through both strategies and comparing top chunks side by side. The lesson: AI-generated logic needs behavioral testing, not just a code read.</a:t>
            </a:r>
            <a:endParaRPr lang="fr-FR" sz="1150" b="0" u="none" strike="noStrike">
              <a:solidFill>
                <a:srgbClr val="000000"/>
              </a:solidFill>
              <a:effectLst/>
              <a:uFillTx/>
              <a:latin typeface="Arial"/>
            </a:endParaRPr>
          </a:p>
        </p:txBody>
      </p:sp>
      <p:sp>
        <p:nvSpPr>
          <p:cNvPr id="273" name="Shape 16"/>
          <p:cNvSpPr/>
          <p:nvPr/>
        </p:nvSpPr>
        <p:spPr>
          <a:xfrm>
            <a:off x="6172200" y="438912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74" name="Shape 17"/>
          <p:cNvSpPr/>
          <p:nvPr/>
        </p:nvSpPr>
        <p:spPr>
          <a:xfrm>
            <a:off x="6172200" y="4389120"/>
            <a:ext cx="72720" cy="187416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275" name="Text 18"/>
          <p:cNvSpPr/>
          <p:nvPr/>
        </p:nvSpPr>
        <p:spPr>
          <a:xfrm>
            <a:off x="6446520" y="4572000"/>
            <a:ext cx="4983120" cy="411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700" b="1" u="none" strike="noStrike">
                <a:solidFill>
                  <a:srgbClr val="1a1a1a"/>
                </a:solidFill>
                <a:effectLst/>
                <a:uFillTx/>
                <a:latin typeface="Georgia"/>
                <a:ea typeface="Georgia"/>
              </a:rPr>
              <a:t>What I would change</a:t>
            </a:r>
            <a:endParaRPr lang="fr-FR" sz="1700" b="0" u="none" strike="noStrike">
              <a:solidFill>
                <a:srgbClr val="000000"/>
              </a:solidFill>
              <a:effectLst/>
              <a:uFillTx/>
              <a:latin typeface="Arial"/>
            </a:endParaRPr>
          </a:p>
        </p:txBody>
      </p:sp>
      <p:sp>
        <p:nvSpPr>
          <p:cNvPr id="276" name="Text 19"/>
          <p:cNvSpPr/>
          <p:nvPr/>
        </p:nvSpPr>
        <p:spPr>
          <a:xfrm>
            <a:off x="6446520" y="5029200"/>
            <a:ext cx="498312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Write the test cases for retrieval before writing the retrieval code, not after. If a known query had had a known expected top chunk from day one, the inverted flag would have surfaced in minutes instead of days.</a:t>
            </a:r>
            <a:endParaRPr lang="fr-FR"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77" name="Text 0"/>
          <p:cNvSpPr/>
          <p:nvPr/>
        </p:nvSpPr>
        <p:spPr>
          <a:xfrm>
            <a:off x="548640" y="411480"/>
            <a:ext cx="7314840" cy="292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00" b="1" u="none" spc="400" strike="noStrike">
                <a:solidFill>
                  <a:srgbClr val="0d9488"/>
                </a:solidFill>
                <a:effectLst/>
                <a:uFillTx/>
                <a:latin typeface="Calibri"/>
                <a:ea typeface="Calibri"/>
              </a:rPr>
              <a:t>11  ·  LESSONS</a:t>
            </a:r>
            <a:endParaRPr lang="fr-FR" sz="1100" b="0" u="none" strike="noStrike">
              <a:solidFill>
                <a:srgbClr val="000000"/>
              </a:solidFill>
              <a:effectLst/>
              <a:uFillTx/>
              <a:latin typeface="Arial"/>
            </a:endParaRPr>
          </a:p>
        </p:txBody>
      </p:sp>
      <p:sp>
        <p:nvSpPr>
          <p:cNvPr id="278" name="Text 1"/>
          <p:cNvSpPr/>
          <p:nvPr/>
        </p:nvSpPr>
        <p:spPr>
          <a:xfrm>
            <a:off x="548640" y="685800"/>
            <a:ext cx="11063880" cy="776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3600" b="1" u="none" strike="noStrike">
                <a:solidFill>
                  <a:srgbClr val="1a1a1a"/>
                </a:solidFill>
                <a:effectLst/>
                <a:uFillTx/>
                <a:latin typeface="Georgia"/>
                <a:ea typeface="Georgia"/>
              </a:rPr>
              <a:t>What we'd take into the next project</a:t>
            </a:r>
            <a:endParaRPr lang="fr-FR" sz="3600" b="0" u="none" strike="noStrike">
              <a:solidFill>
                <a:srgbClr val="000000"/>
              </a:solidFill>
              <a:effectLst/>
              <a:uFillTx/>
              <a:latin typeface="Arial"/>
            </a:endParaRPr>
          </a:p>
        </p:txBody>
      </p:sp>
      <p:sp>
        <p:nvSpPr>
          <p:cNvPr id="279" name="Text 2"/>
          <p:cNvSpPr/>
          <p:nvPr/>
        </p:nvSpPr>
        <p:spPr>
          <a:xfrm>
            <a:off x="548640" y="6446520"/>
            <a:ext cx="5486040" cy="273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900" b="0" u="none" strike="noStrike">
                <a:solidFill>
                  <a:srgbClr val="6b6b6b"/>
                </a:solidFill>
                <a:effectLst/>
                <a:uFillTx/>
                <a:latin typeface="Calibri"/>
                <a:ea typeface="Calibri"/>
              </a:rPr>
              <a:t>Corpus Forge  ·  EPITA 2026</a:t>
            </a:r>
            <a:endParaRPr lang="fr-FR" sz="900" b="0" u="none" strike="noStrike">
              <a:solidFill>
                <a:srgbClr val="000000"/>
              </a:solidFill>
              <a:effectLst/>
              <a:uFillTx/>
              <a:latin typeface="Arial"/>
            </a:endParaRPr>
          </a:p>
        </p:txBody>
      </p:sp>
      <p:sp>
        <p:nvSpPr>
          <p:cNvPr id="280" name="Shape 3"/>
          <p:cNvSpPr/>
          <p:nvPr/>
        </p:nvSpPr>
        <p:spPr>
          <a:xfrm>
            <a:off x="548640" y="178308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81" name="Shape 4"/>
          <p:cNvSpPr/>
          <p:nvPr/>
        </p:nvSpPr>
        <p:spPr>
          <a:xfrm>
            <a:off x="777240" y="2057400"/>
            <a:ext cx="502560" cy="502560"/>
          </a:xfrm>
          <a:prstGeom prst="ellipse">
            <a:avLst/>
          </a:prstGeom>
          <a:solidFill>
            <a:srgbClr val="ffffff"/>
          </a:solidFill>
          <a:ln w="1905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82" name="Image 0" descr="preencoded.png"/>
          <p:cNvPicPr/>
          <p:nvPr/>
        </p:nvPicPr>
        <p:blipFill>
          <a:blip r:embed="rId1"/>
          <a:stretch/>
        </p:blipFill>
        <p:spPr>
          <a:xfrm>
            <a:off x="877680" y="2157840"/>
            <a:ext cx="292320" cy="292320"/>
          </a:xfrm>
          <a:prstGeom prst="rect">
            <a:avLst/>
          </a:prstGeom>
          <a:noFill/>
          <a:ln w="0">
            <a:noFill/>
          </a:ln>
        </p:spPr>
      </p:pic>
      <p:sp>
        <p:nvSpPr>
          <p:cNvPr id="283" name="Text 5"/>
          <p:cNvSpPr/>
          <p:nvPr/>
        </p:nvSpPr>
        <p:spPr>
          <a:xfrm>
            <a:off x="1463040" y="2011680"/>
            <a:ext cx="4343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RAG without vectors is viable.</a:t>
            </a:r>
            <a:endParaRPr lang="fr-FR" sz="1600" b="0" u="none" strike="noStrike">
              <a:solidFill>
                <a:srgbClr val="000000"/>
              </a:solidFill>
              <a:effectLst/>
              <a:uFillTx/>
              <a:latin typeface="Arial"/>
            </a:endParaRPr>
          </a:p>
        </p:txBody>
      </p:sp>
      <p:sp>
        <p:nvSpPr>
          <p:cNvPr id="284" name="Text 6"/>
          <p:cNvSpPr/>
          <p:nvPr/>
        </p:nvSpPr>
        <p:spPr>
          <a:xfrm>
            <a:off x="1463040" y="2468880"/>
            <a:ext cx="434304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For technical docs with consistent vocabulary, word-overlap is fast, transparent, deterministic. For paraphrase-heavy corpora it isn't, and that's where embeddings earn their cost.</a:t>
            </a:r>
            <a:endParaRPr lang="fr-FR" sz="1150" b="0" u="none" strike="noStrike">
              <a:solidFill>
                <a:srgbClr val="000000"/>
              </a:solidFill>
              <a:effectLst/>
              <a:uFillTx/>
              <a:latin typeface="Arial"/>
            </a:endParaRPr>
          </a:p>
        </p:txBody>
      </p:sp>
      <p:sp>
        <p:nvSpPr>
          <p:cNvPr id="285" name="Shape 7"/>
          <p:cNvSpPr/>
          <p:nvPr/>
        </p:nvSpPr>
        <p:spPr>
          <a:xfrm>
            <a:off x="6172200" y="178308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86" name="Shape 8"/>
          <p:cNvSpPr/>
          <p:nvPr/>
        </p:nvSpPr>
        <p:spPr>
          <a:xfrm>
            <a:off x="6400800" y="2057400"/>
            <a:ext cx="502560" cy="502560"/>
          </a:xfrm>
          <a:prstGeom prst="ellipse">
            <a:avLst/>
          </a:prstGeom>
          <a:solidFill>
            <a:srgbClr val="ffffff"/>
          </a:solidFill>
          <a:ln w="1905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87" name="Image 1" descr="preencoded.png"/>
          <p:cNvPicPr/>
          <p:nvPr/>
        </p:nvPicPr>
        <p:blipFill>
          <a:blip r:embed="rId2"/>
          <a:stretch/>
        </p:blipFill>
        <p:spPr>
          <a:xfrm>
            <a:off x="6501240" y="2157840"/>
            <a:ext cx="292320" cy="292320"/>
          </a:xfrm>
          <a:prstGeom prst="rect">
            <a:avLst/>
          </a:prstGeom>
          <a:noFill/>
          <a:ln w="0">
            <a:noFill/>
          </a:ln>
        </p:spPr>
      </p:pic>
      <p:sp>
        <p:nvSpPr>
          <p:cNvPr id="288" name="Text 9"/>
          <p:cNvSpPr/>
          <p:nvPr/>
        </p:nvSpPr>
        <p:spPr>
          <a:xfrm>
            <a:off x="7086600" y="2011680"/>
            <a:ext cx="4343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Evaluate the API before you build on it.</a:t>
            </a:r>
            <a:endParaRPr lang="fr-FR" sz="1600" b="0" u="none" strike="noStrike">
              <a:solidFill>
                <a:srgbClr val="000000"/>
              </a:solidFill>
              <a:effectLst/>
              <a:uFillTx/>
              <a:latin typeface="Arial"/>
            </a:endParaRPr>
          </a:p>
        </p:txBody>
      </p:sp>
      <p:sp>
        <p:nvSpPr>
          <p:cNvPr id="289" name="Text 10"/>
          <p:cNvSpPr/>
          <p:nvPr/>
        </p:nvSpPr>
        <p:spPr>
          <a:xfrm>
            <a:off x="7086600" y="2468880"/>
            <a:ext cx="434304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Thirty minutes on each provider's billing page and rate limits would have saved us two migrations. The criteria are explicit and answerable upfront.</a:t>
            </a:r>
            <a:endParaRPr lang="fr-FR" sz="1150" b="0" u="none" strike="noStrike">
              <a:solidFill>
                <a:srgbClr val="000000"/>
              </a:solidFill>
              <a:effectLst/>
              <a:uFillTx/>
              <a:latin typeface="Arial"/>
            </a:endParaRPr>
          </a:p>
        </p:txBody>
      </p:sp>
      <p:sp>
        <p:nvSpPr>
          <p:cNvPr id="290" name="Shape 11"/>
          <p:cNvSpPr/>
          <p:nvPr/>
        </p:nvSpPr>
        <p:spPr>
          <a:xfrm>
            <a:off x="548640" y="388620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91" name="Shape 12"/>
          <p:cNvSpPr/>
          <p:nvPr/>
        </p:nvSpPr>
        <p:spPr>
          <a:xfrm>
            <a:off x="777240" y="4160520"/>
            <a:ext cx="502560" cy="502560"/>
          </a:xfrm>
          <a:prstGeom prst="ellipse">
            <a:avLst/>
          </a:prstGeom>
          <a:solidFill>
            <a:srgbClr val="ffffff"/>
          </a:solidFill>
          <a:ln w="1905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92" name="Image 2" descr="preencoded.png"/>
          <p:cNvPicPr/>
          <p:nvPr/>
        </p:nvPicPr>
        <p:blipFill>
          <a:blip r:embed="rId3"/>
          <a:stretch/>
        </p:blipFill>
        <p:spPr>
          <a:xfrm>
            <a:off x="877680" y="4260960"/>
            <a:ext cx="292320" cy="292320"/>
          </a:xfrm>
          <a:prstGeom prst="rect">
            <a:avLst/>
          </a:prstGeom>
          <a:noFill/>
          <a:ln w="0">
            <a:noFill/>
          </a:ln>
        </p:spPr>
      </p:pic>
      <p:sp>
        <p:nvSpPr>
          <p:cNvPr id="293" name="Text 13"/>
          <p:cNvSpPr/>
          <p:nvPr/>
        </p:nvSpPr>
        <p:spPr>
          <a:xfrm>
            <a:off x="1463040" y="4114800"/>
            <a:ext cx="4343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Smaller AI prompts, smaller surprises.</a:t>
            </a:r>
            <a:endParaRPr lang="fr-FR" sz="1600" b="0" u="none" strike="noStrike">
              <a:solidFill>
                <a:srgbClr val="000000"/>
              </a:solidFill>
              <a:effectLst/>
              <a:uFillTx/>
              <a:latin typeface="Arial"/>
            </a:endParaRPr>
          </a:p>
        </p:txBody>
      </p:sp>
      <p:sp>
        <p:nvSpPr>
          <p:cNvPr id="294" name="Text 14"/>
          <p:cNvSpPr/>
          <p:nvPr/>
        </p:nvSpPr>
        <p:spPr>
          <a:xfrm>
            <a:off x="1463040" y="4572000"/>
            <a:ext cx="434304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Copilot Edit mode on a single function gave better, reviewable output than asking it to draft a whole file. Scope is the lever.</a:t>
            </a:r>
            <a:endParaRPr lang="fr-FR" sz="1150" b="0" u="none" strike="noStrike">
              <a:solidFill>
                <a:srgbClr val="000000"/>
              </a:solidFill>
              <a:effectLst/>
              <a:uFillTx/>
              <a:latin typeface="Arial"/>
            </a:endParaRPr>
          </a:p>
        </p:txBody>
      </p:sp>
      <p:sp>
        <p:nvSpPr>
          <p:cNvPr id="295" name="Shape 15"/>
          <p:cNvSpPr/>
          <p:nvPr/>
        </p:nvSpPr>
        <p:spPr>
          <a:xfrm>
            <a:off x="6172200" y="3886200"/>
            <a:ext cx="5440320" cy="1874160"/>
          </a:xfrm>
          <a:prstGeom prst="rect">
            <a:avLst/>
          </a:prstGeom>
          <a:solidFill>
            <a:srgbClr val="fafafa"/>
          </a:solidFill>
          <a:ln w="12700">
            <a:solidFill>
              <a:srgbClr val="e5e5e5"/>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sp>
        <p:nvSpPr>
          <p:cNvPr id="296" name="Shape 16"/>
          <p:cNvSpPr/>
          <p:nvPr/>
        </p:nvSpPr>
        <p:spPr>
          <a:xfrm>
            <a:off x="6400800" y="4160520"/>
            <a:ext cx="502560" cy="502560"/>
          </a:xfrm>
          <a:prstGeom prst="ellipse">
            <a:avLst/>
          </a:prstGeom>
          <a:solidFill>
            <a:srgbClr val="ffffff"/>
          </a:solidFill>
          <a:ln w="1905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000000"/>
              </a:solidFill>
              <a:effectLst/>
              <a:uFillTx/>
              <a:latin typeface="Arial"/>
            </a:endParaRPr>
          </a:p>
        </p:txBody>
      </p:sp>
      <p:pic>
        <p:nvPicPr>
          <p:cNvPr id="297" name="Image 3" descr="preencoded.png"/>
          <p:cNvPicPr/>
          <p:nvPr/>
        </p:nvPicPr>
        <p:blipFill>
          <a:blip r:embed="rId4"/>
          <a:stretch/>
        </p:blipFill>
        <p:spPr>
          <a:xfrm>
            <a:off x="6501240" y="4260960"/>
            <a:ext cx="292320" cy="292320"/>
          </a:xfrm>
          <a:prstGeom prst="rect">
            <a:avLst/>
          </a:prstGeom>
          <a:noFill/>
          <a:ln w="0">
            <a:noFill/>
          </a:ln>
        </p:spPr>
      </p:pic>
      <p:sp>
        <p:nvSpPr>
          <p:cNvPr id="298" name="Text 17"/>
          <p:cNvSpPr/>
          <p:nvPr/>
        </p:nvSpPr>
        <p:spPr>
          <a:xfrm>
            <a:off x="7086600" y="4114800"/>
            <a:ext cx="4343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600" b="1" u="none" strike="noStrike">
                <a:solidFill>
                  <a:srgbClr val="1a1a1a"/>
                </a:solidFill>
                <a:effectLst/>
                <a:uFillTx/>
                <a:latin typeface="Georgia"/>
                <a:ea typeface="Georgia"/>
              </a:rPr>
              <a:t>AI doesn't catch silent logic bugs.</a:t>
            </a:r>
            <a:endParaRPr lang="fr-FR" sz="1600" b="0" u="none" strike="noStrike">
              <a:solidFill>
                <a:srgbClr val="000000"/>
              </a:solidFill>
              <a:effectLst/>
              <a:uFillTx/>
              <a:latin typeface="Arial"/>
            </a:endParaRPr>
          </a:p>
        </p:txBody>
      </p:sp>
      <p:sp>
        <p:nvSpPr>
          <p:cNvPr id="299" name="Text 18"/>
          <p:cNvSpPr/>
          <p:nvPr/>
        </p:nvSpPr>
        <p:spPr>
          <a:xfrm>
            <a:off x="7086600" y="4572000"/>
            <a:ext cx="4343040" cy="10969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150" b="0" u="none" strike="noStrike">
                <a:solidFill>
                  <a:srgbClr val="2b2b2b"/>
                </a:solidFill>
                <a:effectLst/>
                <a:uFillTx/>
                <a:latin typeface="Calibri"/>
                <a:ea typeface="Calibri"/>
              </a:rPr>
              <a:t>Our retrieval scoring had an inverted flag that Copilot wrote and never flagged on rereads. The code was syntactically fine and the output looked plausible. Only side-by-side manual testing surfaced it.</a:t>
            </a:r>
            <a:endParaRPr lang="fr-FR"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a1a1a"/>
        </a:solidFill>
      </p:bgPr>
    </p:bg>
    <p:spTree>
      <p:nvGrpSpPr>
        <p:cNvPr id="1" name=""/>
        <p:cNvGrpSpPr/>
        <p:nvPr/>
      </p:nvGrpSpPr>
      <p:grpSpPr>
        <a:xfrm>
          <a:off x="0" y="0"/>
          <a:ext cx="0" cy="0"/>
          <a:chOff x="0" y="0"/>
          <a:chExt cx="0" cy="0"/>
        </a:xfrm>
      </p:grpSpPr>
      <p:sp>
        <p:nvSpPr>
          <p:cNvPr id="300" name="Shape 0"/>
          <p:cNvSpPr/>
          <p:nvPr/>
        </p:nvSpPr>
        <p:spPr>
          <a:xfrm>
            <a:off x="0" y="0"/>
            <a:ext cx="319680" cy="6857640"/>
          </a:xfrm>
          <a:prstGeom prst="rect">
            <a:avLst/>
          </a:prstGeom>
          <a:solidFill>
            <a:srgbClr val="0d9488"/>
          </a:solidFill>
          <a:ln w="12700">
            <a:solidFill>
              <a:srgbClr val="0d9488"/>
            </a:solidFill>
            <a:round/>
          </a:ln>
        </p:spPr>
        <p:style>
          <a:lnRef idx="0"/>
          <a:fillRef idx="0"/>
          <a:effectRef idx="0"/>
          <a:fontRef idx="minor"/>
        </p:style>
        <p:txBody>
          <a:bodyPr lIns="90000" rIns="90000" tIns="45000" bIns="45000" anchor="t">
            <a:noAutofit/>
          </a:bodyPr>
          <a:p>
            <a:endParaRPr lang="fr-FR" sz="1800" b="0" u="none" strike="noStrike">
              <a:solidFill>
                <a:srgbClr val="ffffff"/>
              </a:solidFill>
              <a:effectLst/>
              <a:uFillTx/>
              <a:latin typeface="Arial"/>
            </a:endParaRPr>
          </a:p>
        </p:txBody>
      </p:sp>
      <p:sp>
        <p:nvSpPr>
          <p:cNvPr id="301" name="Text 1"/>
          <p:cNvSpPr/>
          <p:nvPr/>
        </p:nvSpPr>
        <p:spPr>
          <a:xfrm>
            <a:off x="914400" y="1828800"/>
            <a:ext cx="10058040" cy="18284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4800" b="1" u="none" strike="noStrike">
                <a:solidFill>
                  <a:srgbClr val="ffffff"/>
                </a:solidFill>
                <a:effectLst/>
                <a:uFillTx/>
                <a:latin typeface="Georgia"/>
                <a:ea typeface="Georgia"/>
              </a:rPr>
              <a:t>Thank you for your attention</a:t>
            </a:r>
            <a:endParaRPr lang="fr-FR" sz="4800" b="0" u="none" strike="noStrike">
              <a:solidFill>
                <a:srgbClr val="ffffff"/>
              </a:solidFill>
              <a:effectLst/>
              <a:uFillTx/>
              <a:latin typeface="Arial"/>
            </a:endParaRPr>
          </a:p>
          <a:p>
            <a:pPr defTabSz="914400">
              <a:lnSpc>
                <a:spcPct val="100000"/>
              </a:lnSpc>
              <a:tabLst>
                <a:tab algn="l" pos="0"/>
              </a:tabLst>
            </a:pPr>
            <a:r>
              <a:rPr lang="en-US" sz="4800" b="1" u="none" strike="noStrike">
                <a:solidFill>
                  <a:srgbClr val="ffffff"/>
                </a:solidFill>
                <a:effectLst/>
                <a:uFillTx/>
                <a:latin typeface="Georgia"/>
                <a:ea typeface="Georgia"/>
              </a:rPr>
              <a:t>Any questions ?</a:t>
            </a:r>
            <a:endParaRPr lang="fr-FR" sz="4800" b="0" u="none" strike="noStrike">
              <a:solidFill>
                <a:srgbClr val="ffffff"/>
              </a:solidFill>
              <a:effectLst/>
              <a:uFillTx/>
              <a:latin typeface="Arial"/>
            </a:endParaRPr>
          </a:p>
        </p:txBody>
      </p:sp>
      <p:sp>
        <p:nvSpPr>
          <p:cNvPr id="302" name="Shape 2"/>
          <p:cNvSpPr/>
          <p:nvPr/>
        </p:nvSpPr>
        <p:spPr>
          <a:xfrm>
            <a:off x="914400" y="3840480"/>
            <a:ext cx="1096920" cy="27000"/>
          </a:xfrm>
          <a:prstGeom prst="rect">
            <a:avLst/>
          </a:prstGeom>
          <a:solidFill>
            <a:srgbClr val="0d9488"/>
          </a:solidFill>
          <a:ln w="12700">
            <a:solidFill>
              <a:srgbClr val="0d9488"/>
            </a:solidFill>
            <a:round/>
          </a:ln>
        </p:spPr>
        <p:style>
          <a:lnRef idx="0"/>
          <a:fillRef idx="0"/>
          <a:effectRef idx="0"/>
          <a:fontRef idx="minor"/>
        </p:style>
        <p:txBody>
          <a:bodyPr lIns="90000" rIns="90000" tIns="-17640" bIns="-17640" anchor="t">
            <a:noAutofit/>
          </a:bodyPr>
          <a:p>
            <a:endParaRPr lang="fr-FR" sz="1800" b="0" u="none" strike="noStrike">
              <a:solidFill>
                <a:srgbClr val="ffffff"/>
              </a:solidFill>
              <a:effectLst/>
              <a:uFillTx/>
              <a:latin typeface="Arial"/>
            </a:endParaRPr>
          </a:p>
        </p:txBody>
      </p:sp>
      <p:sp>
        <p:nvSpPr>
          <p:cNvPr id="303" name="Text 3"/>
          <p:cNvSpPr/>
          <p:nvPr/>
        </p:nvSpPr>
        <p:spPr>
          <a:xfrm>
            <a:off x="914400" y="4069080"/>
            <a:ext cx="10058040" cy="4568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fr-FR" sz="1800" b="0" u="none" strike="noStrike">
              <a:solidFill>
                <a:srgbClr val="ffffff"/>
              </a:solidFill>
              <a:effectLst/>
              <a:uFillTx/>
              <a:latin typeface="Arial"/>
            </a:endParaRPr>
          </a:p>
        </p:txBody>
      </p:sp>
      <p:sp>
        <p:nvSpPr>
          <p:cNvPr id="304" name="Text 4"/>
          <p:cNvSpPr/>
          <p:nvPr/>
        </p:nvSpPr>
        <p:spPr>
          <a:xfrm>
            <a:off x="914400" y="4526280"/>
            <a:ext cx="10058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fr-FR" sz="1800" b="0" u="none" strike="noStrike">
              <a:solidFill>
                <a:srgbClr val="ffffff"/>
              </a:solidFill>
              <a:effectLst/>
              <a:uFillTx/>
              <a:latin typeface="Arial"/>
            </a:endParaRPr>
          </a:p>
        </p:txBody>
      </p:sp>
      <p:sp>
        <p:nvSpPr>
          <p:cNvPr id="305" name="Text 5"/>
          <p:cNvSpPr/>
          <p:nvPr/>
        </p:nvSpPr>
        <p:spPr>
          <a:xfrm>
            <a:off x="720000" y="4314600"/>
            <a:ext cx="10058040" cy="3654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1300" b="0" u="none" strike="noStrike">
                <a:solidFill>
                  <a:srgbClr val="9a9a9a"/>
                </a:solidFill>
                <a:effectLst/>
                <a:uFillTx/>
                <a:latin typeface="Calibri"/>
                <a:ea typeface="Calibri"/>
              </a:rPr>
              <a:t>Youssef Kang  ·  Quang Phuc Hoang</a:t>
            </a:r>
            <a:endParaRPr lang="fr-FR"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LibreOffice/25.8.6.2$Windows_X86_64 LibreOffice_project/b4b39682cd9868fa725bc664aff94278d315bd04</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2026-05-27T20:13:50Z</dcterms:created>
  <dc:creator>Youssef Kang &amp; Quang Phuc Hoang</dc:creator>
  <dc:description/>
  <dc:language>fr-FR</dc:language>
  <cp:lastModifiedBy/>
  <dcterms:modified xsi:type="dcterms:W3CDTF">2026-05-27T22:28:10Z</dcterms:modified>
  <cp:revision>4</cp:revision>
  <dc:subject>PptxGenJS Presentation</dc:subject>
  <dc:title>Corpus Forge — Capstone Group 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15</vt:i4>
  </property>
  <property fmtid="{D5CDD505-2E9C-101B-9397-08002B2CF9AE}" pid="3" name="PresentationFormat">
    <vt:lpwstr>On-screen Show (16:9)</vt:lpwstr>
  </property>
  <property fmtid="{D5CDD505-2E9C-101B-9397-08002B2CF9AE}" pid="4" name="Slides">
    <vt:i4>15</vt:i4>
  </property>
</Properties>
</file>